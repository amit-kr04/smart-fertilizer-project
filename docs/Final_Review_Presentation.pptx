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30fc215-87bd-49fc-b51a-f573a7a612a8}">
          <p14:sldIdLst>
            <p14:sldId id="256"/>
            <p14:sldId id="257"/>
            <p14:sldId id="258"/>
            <p14:sldId id="259"/>
          </p14:sldIdLst>
        </p14:section>
        <p14:section name="Data &amp; Method" id="{c32b60bf-cefd-40fe-a219-7232c08562e2}">
          <p14:sldIdLst>
            <p14:sldId id="260"/>
            <p14:sldId id="261"/>
            <p14:sldId id="262"/>
            <p14:sldId id="263"/>
          </p14:sldIdLst>
        </p14:section>
        <p14:section name="Results" id="{ef1a4ea6-9935-1e2a-2e61-5f59fe8aad7f}">
          <p14:sldIdLst>
            <p14:sldId id="264"/>
            <p14:sldId id="265"/>
            <p14:sldId id="266"/>
            <p14:sldId id="267"/>
          </p14:sldIdLst>
        </p14:section>
        <p14:section name="Wrap-up" id="{47e37ef9-8e37-dca7-950e-8b14fd6cb32c}">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3A1E"/>
                </a:solidFill>
                <a:latin typeface="+mn-lt"/>
              </a:defRPr>
            </a:pPr>
            <a:r>
              <a:rPr sz="1400" b="0" i="0" u="none" strike="noStrike">
                <a:solidFill>
                  <a:srgbClr val="1C3A1E"/>
                </a:solidFill>
                <a:latin typeface="+mn-lt"/>
              </a:rPr>
              <a:t>Same "90-day" coated urea, three field climates</a:t>
            </a:r>
          </a:p>
        </c:rich>
      </c:tx>
      <c:layout/>
      <c:overlay val="0"/>
    </c:title>
    <c:autoTitleDeleted val="0"/>
    <c:plotArea>
      <c:layout/>
      <c:lineChart>
        <c:varyColors val="0"/>
        <c:ser>
          <c:idx val="0"/>
          <c:order val="0"/>
          <c:tx>
            <c:strRef>
              <c:f>Sheet1!$B$1</c:f>
              <c:strCache>
                <c:ptCount val="1"/>
                <c:pt idx="0">
                  <c:v>Hot &amp; wet (35 °C)</c:v>
                </c:pt>
              </c:strCache>
            </c:strRef>
          </c:tx>
          <c:spPr>
            <a:solidFill>
              <a:srgbClr val="8B5A2B"/>
            </a:solidFill>
            <a:ln w="31750" cap="flat">
              <a:solidFill>
                <a:srgbClr val="8B5A2B"/>
              </a:solidFill>
              <a:prstDash val="solid"/>
              <a:round/>
            </a:ln>
            <a:effectLst/>
          </c:spPr>
          <c:invertIfNegative val="0"/>
          <c:dLbls>
            <c:numFmt formatCode="#,##0" sourceLinked="0"/>
            <c:txPr>
              <a:bodyPr/>
              <a:lstStyle/>
              <a:p>
                <a:pPr>
                  <a:defRPr b="0" i="0" strike="noStrike" sz="1000" u="none">
                    <a:solidFill>
                      <a:srgbClr val="1F2A1F"/>
                    </a:solidFill>
                    <a:latin typeface="+mn-lt"/>
                  </a:defRPr>
                </a:pPr>
              </a:p>
            </c:txPr>
            <c:showLegendKey val="0"/>
            <c:showVal val="0"/>
            <c:showCatName val="0"/>
            <c:showSerName val="0"/>
            <c:showPercent val="0"/>
            <c:showBubbleSize val="0"/>
            <c:showLeaderLines val="0"/>
          </c:dLbls>
          <c:marker>
            <c:symbol val="none"/>
            <c:size val="6"/>
            <c:spPr>
              <a:solidFill>
                <a:srgbClr val="8B5A2B"/>
              </a:solidFill>
              <a:ln w="9525" cap="flat">
                <a:solidFill>
                  <a:srgbClr val="8B5A2B"/>
                </a:solidFill>
                <a:prstDash val="solid"/>
                <a:round/>
              </a:ln>
              <a:effectLst/>
            </c:spPr>
          </c:marker>
          <c:cat>
            <c:multiLvlStrRef>
              <c:f>Sheet1!$A$2:$A$38</c:f>
              <c:multiLvlStrCache>
                <c:ptCount val="37"/>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lvl>
              </c:multiLvlStrCache>
            </c:multiLvlStrRef>
          </c:cat>
          <c:val>
            <c:numRef>
              <c:f>Sheet1!$B$2:$B$38</c:f>
              <c:numCache>
                <c:formatCode>General</c:formatCode>
                <c:ptCount val="37"/>
                <c:pt idx="0">
                  <c:v>0</c:v>
                </c:pt>
                <c:pt idx="1">
                  <c:v>3.2</c:v>
                </c:pt>
                <c:pt idx="2">
                  <c:v>10.6</c:v>
                </c:pt>
                <c:pt idx="3">
                  <c:v>20.7</c:v>
                </c:pt>
                <c:pt idx="4">
                  <c:v>32.2</c:v>
                </c:pt>
                <c:pt idx="5">
                  <c:v>44.1</c:v>
                </c:pt>
                <c:pt idx="6">
                  <c:v>55.4</c:v>
                </c:pt>
                <c:pt idx="7">
                  <c:v>65.5</c:v>
                </c:pt>
                <c:pt idx="8">
                  <c:v>74.2</c:v>
                </c:pt>
                <c:pt idx="9">
                  <c:v>81.2</c:v>
                </c:pt>
                <c:pt idx="10">
                  <c:v>86.8</c:v>
                </c:pt>
                <c:pt idx="11">
                  <c:v>90.9</c:v>
                </c:pt>
                <c:pt idx="12">
                  <c:v>94</c:v>
                </c:pt>
                <c:pt idx="13">
                  <c:v>96.1</c:v>
                </c:pt>
                <c:pt idx="14">
                  <c:v>97.5</c:v>
                </c:pt>
                <c:pt idx="15">
                  <c:v>98.5</c:v>
                </c:pt>
                <c:pt idx="16">
                  <c:v>99.1</c:v>
                </c:pt>
                <c:pt idx="17">
                  <c:v>99.5</c:v>
                </c:pt>
                <c:pt idx="18">
                  <c:v>99.7</c:v>
                </c:pt>
                <c:pt idx="19">
                  <c:v>99.8</c:v>
                </c:pt>
                <c:pt idx="20">
                  <c:v>99.9</c:v>
                </c:pt>
                <c:pt idx="21">
                  <c:v>100</c:v>
                </c:pt>
                <c:pt idx="22">
                  <c:v>100</c:v>
                </c:pt>
                <c:pt idx="23">
                  <c:v>100</c:v>
                </c:pt>
                <c:pt idx="24">
                  <c:v>100</c:v>
                </c:pt>
                <c:pt idx="25">
                  <c:v>100</c:v>
                </c:pt>
                <c:pt idx="26">
                  <c:v>100</c:v>
                </c:pt>
                <c:pt idx="27">
                  <c:v>100</c:v>
                </c:pt>
                <c:pt idx="28">
                  <c:v>100</c:v>
                </c:pt>
                <c:pt idx="29">
                  <c:v>100</c:v>
                </c:pt>
                <c:pt idx="30">
                  <c:v>100</c:v>
                </c:pt>
                <c:pt idx="31">
                  <c:v>100</c:v>
                </c:pt>
                <c:pt idx="32">
                  <c:v>100</c:v>
                </c:pt>
                <c:pt idx="33">
                  <c:v>100</c:v>
                </c:pt>
                <c:pt idx="34">
                  <c:v>100</c:v>
                </c:pt>
                <c:pt idx="35">
                  <c:v>100</c:v>
                </c:pt>
                <c:pt idx="36">
                  <c:v>100</c:v>
                </c:pt>
              </c:numCache>
            </c:numRef>
          </c:val>
          <c:smooth val="0"/>
        </c:ser>
        <c:ser>
          <c:idx val="1"/>
          <c:order val="1"/>
          <c:tx>
            <c:strRef>
              <c:f>Sheet1!$C$1</c:f>
              <c:strCache>
                <c:ptCount val="1"/>
                <c:pt idx="0">
                  <c:v>Lab rating (25 °C)</c:v>
                </c:pt>
              </c:strCache>
            </c:strRef>
          </c:tx>
          <c:spPr>
            <a:solidFill>
              <a:srgbClr val="5F6F5F"/>
            </a:solidFill>
            <a:ln w="31750" cap="flat">
              <a:solidFill>
                <a:srgbClr val="5F6F5F"/>
              </a:solidFill>
              <a:prstDash val="solid"/>
              <a:round/>
            </a:ln>
            <a:effectLst/>
          </c:spPr>
          <c:invertIfNegative val="0"/>
          <c:dLbls>
            <c:numFmt formatCode="#,##0" sourceLinked="0"/>
            <c:txPr>
              <a:bodyPr/>
              <a:lstStyle/>
              <a:p>
                <a:pPr>
                  <a:defRPr b="0" i="0" strike="noStrike" sz="1000" u="none">
                    <a:solidFill>
                      <a:srgbClr val="1F2A1F"/>
                    </a:solidFill>
                    <a:latin typeface="+mn-lt"/>
                  </a:defRPr>
                </a:pPr>
              </a:p>
            </c:txPr>
            <c:showLegendKey val="0"/>
            <c:showVal val="0"/>
            <c:showCatName val="0"/>
            <c:showSerName val="0"/>
            <c:showPercent val="0"/>
            <c:showBubbleSize val="0"/>
            <c:showLeaderLines val="0"/>
          </c:dLbls>
          <c:marker>
            <c:symbol val="none"/>
            <c:size val="6"/>
            <c:spPr>
              <a:solidFill>
                <a:srgbClr val="5F6F5F"/>
              </a:solidFill>
              <a:ln w="9525" cap="flat">
                <a:solidFill>
                  <a:srgbClr val="5F6F5F"/>
                </a:solidFill>
                <a:prstDash val="solid"/>
                <a:round/>
              </a:ln>
              <a:effectLst/>
            </c:spPr>
          </c:marker>
          <c:cat>
            <c:multiLvlStrRef>
              <c:f>Sheet1!$A$2:$A$38</c:f>
              <c:multiLvlStrCache>
                <c:ptCount val="37"/>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lvl>
              </c:multiLvlStrCache>
            </c:multiLvlStrRef>
          </c:cat>
          <c:val>
            <c:numRef>
              <c:f>Sheet1!$C$2:$C$38</c:f>
              <c:numCache>
                <c:formatCode>General</c:formatCode>
                <c:ptCount val="37"/>
                <c:pt idx="0">
                  <c:v>0</c:v>
                </c:pt>
                <c:pt idx="1">
                  <c:v>0.9</c:v>
                </c:pt>
                <c:pt idx="2">
                  <c:v>3</c:v>
                </c:pt>
                <c:pt idx="3">
                  <c:v>6.2</c:v>
                </c:pt>
                <c:pt idx="4">
                  <c:v>10.2</c:v>
                </c:pt>
                <c:pt idx="5">
                  <c:v>14.8</c:v>
                </c:pt>
                <c:pt idx="6">
                  <c:v>20</c:v>
                </c:pt>
                <c:pt idx="7">
                  <c:v>25.5</c:v>
                </c:pt>
                <c:pt idx="8">
                  <c:v>31.2</c:v>
                </c:pt>
                <c:pt idx="9">
                  <c:v>37</c:v>
                </c:pt>
                <c:pt idx="10">
                  <c:v>42.8</c:v>
                </c:pt>
                <c:pt idx="11">
                  <c:v>48.5</c:v>
                </c:pt>
                <c:pt idx="12">
                  <c:v>54</c:v>
                </c:pt>
                <c:pt idx="13">
                  <c:v>59.2</c:v>
                </c:pt>
                <c:pt idx="14">
                  <c:v>64.1</c:v>
                </c:pt>
                <c:pt idx="15">
                  <c:v>68.6</c:v>
                </c:pt>
                <c:pt idx="16">
                  <c:v>72.8</c:v>
                </c:pt>
                <c:pt idx="17">
                  <c:v>76.6</c:v>
                </c:pt>
                <c:pt idx="18">
                  <c:v>80</c:v>
                </c:pt>
                <c:pt idx="19">
                  <c:v>83</c:v>
                </c:pt>
                <c:pt idx="20">
                  <c:v>85.7</c:v>
                </c:pt>
                <c:pt idx="21">
                  <c:v>88</c:v>
                </c:pt>
                <c:pt idx="22">
                  <c:v>90.1</c:v>
                </c:pt>
                <c:pt idx="23">
                  <c:v>91.8</c:v>
                </c:pt>
                <c:pt idx="24">
                  <c:v>93.3</c:v>
                </c:pt>
                <c:pt idx="25">
                  <c:v>94.5</c:v>
                </c:pt>
                <c:pt idx="26">
                  <c:v>95.6</c:v>
                </c:pt>
                <c:pt idx="27">
                  <c:v>96.5</c:v>
                </c:pt>
                <c:pt idx="28">
                  <c:v>97.2</c:v>
                </c:pt>
                <c:pt idx="29">
                  <c:v>97.8</c:v>
                </c:pt>
                <c:pt idx="30">
                  <c:v>98.2</c:v>
                </c:pt>
                <c:pt idx="31">
                  <c:v>98.6</c:v>
                </c:pt>
                <c:pt idx="32">
                  <c:v>98.9</c:v>
                </c:pt>
                <c:pt idx="33">
                  <c:v>99.2</c:v>
                </c:pt>
                <c:pt idx="34">
                  <c:v>99.4</c:v>
                </c:pt>
                <c:pt idx="35">
                  <c:v>99.5</c:v>
                </c:pt>
                <c:pt idx="36">
                  <c:v>99.6</c:v>
                </c:pt>
              </c:numCache>
            </c:numRef>
          </c:val>
          <c:smooth val="0"/>
        </c:ser>
        <c:ser>
          <c:idx val="2"/>
          <c:order val="2"/>
          <c:tx>
            <c:strRef>
              <c:f>Sheet1!$D$1</c:f>
              <c:strCache>
                <c:ptCount val="1"/>
                <c:pt idx="0">
                  <c:v>Cool &amp; dry (18 °C)</c:v>
                </c:pt>
              </c:strCache>
            </c:strRef>
          </c:tx>
          <c:spPr>
            <a:solidFill>
              <a:srgbClr val="2E5E2F"/>
            </a:solidFill>
            <a:ln w="31750" cap="flat">
              <a:solidFill>
                <a:srgbClr val="2E5E2F"/>
              </a:solidFill>
              <a:prstDash val="solid"/>
              <a:round/>
            </a:ln>
            <a:effectLst/>
          </c:spPr>
          <c:invertIfNegative val="0"/>
          <c:dLbls>
            <c:numFmt formatCode="#,##0" sourceLinked="0"/>
            <c:txPr>
              <a:bodyPr/>
              <a:lstStyle/>
              <a:p>
                <a:pPr>
                  <a:defRPr b="0" i="0" strike="noStrike" sz="1000" u="none">
                    <a:solidFill>
                      <a:srgbClr val="1F2A1F"/>
                    </a:solidFill>
                    <a:latin typeface="+mn-lt"/>
                  </a:defRPr>
                </a:pPr>
              </a:p>
            </c:txPr>
            <c:showLegendKey val="0"/>
            <c:showVal val="0"/>
            <c:showCatName val="0"/>
            <c:showSerName val="0"/>
            <c:showPercent val="0"/>
            <c:showBubbleSize val="0"/>
            <c:showLeaderLines val="0"/>
          </c:dLbls>
          <c:marker>
            <c:symbol val="none"/>
            <c:size val="6"/>
            <c:spPr>
              <a:solidFill>
                <a:srgbClr val="2E5E2F"/>
              </a:solidFill>
              <a:ln w="9525" cap="flat">
                <a:solidFill>
                  <a:srgbClr val="2E5E2F"/>
                </a:solidFill>
                <a:prstDash val="solid"/>
                <a:round/>
              </a:ln>
              <a:effectLst/>
            </c:spPr>
          </c:marker>
          <c:cat>
            <c:multiLvlStrRef>
              <c:f>Sheet1!$A$2:$A$38</c:f>
              <c:multiLvlStrCache>
                <c:ptCount val="37"/>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lvl>
              </c:multiLvlStrCache>
            </c:multiLvlStrRef>
          </c:cat>
          <c:val>
            <c:numRef>
              <c:f>Sheet1!$D$2:$D$38</c:f>
              <c:numCache>
                <c:formatCode>General</c:formatCode>
                <c:ptCount val="37"/>
                <c:pt idx="0">
                  <c:v>0</c:v>
                </c:pt>
                <c:pt idx="1">
                  <c:v>0.3</c:v>
                </c:pt>
                <c:pt idx="2">
                  <c:v>0.9</c:v>
                </c:pt>
                <c:pt idx="3">
                  <c:v>2</c:v>
                </c:pt>
                <c:pt idx="4">
                  <c:v>3.3</c:v>
                </c:pt>
                <c:pt idx="5">
                  <c:v>4.8</c:v>
                </c:pt>
                <c:pt idx="6">
                  <c:v>6.7</c:v>
                </c:pt>
                <c:pt idx="7">
                  <c:v>8.7</c:v>
                </c:pt>
                <c:pt idx="8">
                  <c:v>10.9</c:v>
                </c:pt>
                <c:pt idx="9">
                  <c:v>13.3</c:v>
                </c:pt>
                <c:pt idx="10">
                  <c:v>15.9</c:v>
                </c:pt>
                <c:pt idx="11">
                  <c:v>18.5</c:v>
                </c:pt>
                <c:pt idx="12">
                  <c:v>21.3</c:v>
                </c:pt>
                <c:pt idx="13">
                  <c:v>24.2</c:v>
                </c:pt>
                <c:pt idx="14">
                  <c:v>27.1</c:v>
                </c:pt>
                <c:pt idx="15">
                  <c:v>30.1</c:v>
                </c:pt>
                <c:pt idx="16">
                  <c:v>33.1</c:v>
                </c:pt>
                <c:pt idx="17">
                  <c:v>36.2</c:v>
                </c:pt>
                <c:pt idx="18">
                  <c:v>39.2</c:v>
                </c:pt>
                <c:pt idx="19">
                  <c:v>42.2</c:v>
                </c:pt>
                <c:pt idx="20">
                  <c:v>45.2</c:v>
                </c:pt>
                <c:pt idx="21">
                  <c:v>48.1</c:v>
                </c:pt>
                <c:pt idx="22">
                  <c:v>51</c:v>
                </c:pt>
                <c:pt idx="23">
                  <c:v>53.9</c:v>
                </c:pt>
                <c:pt idx="24">
                  <c:v>56.6</c:v>
                </c:pt>
                <c:pt idx="25">
                  <c:v>59.3</c:v>
                </c:pt>
                <c:pt idx="26">
                  <c:v>61.9</c:v>
                </c:pt>
                <c:pt idx="27">
                  <c:v>64.4</c:v>
                </c:pt>
                <c:pt idx="28">
                  <c:v>66.8</c:v>
                </c:pt>
                <c:pt idx="29">
                  <c:v>69.1</c:v>
                </c:pt>
                <c:pt idx="30">
                  <c:v>71.3</c:v>
                </c:pt>
                <c:pt idx="31">
                  <c:v>73.4</c:v>
                </c:pt>
                <c:pt idx="32">
                  <c:v>75.4</c:v>
                </c:pt>
                <c:pt idx="33">
                  <c:v>77.3</c:v>
                </c:pt>
                <c:pt idx="34">
                  <c:v>79.1</c:v>
                </c:pt>
                <c:pt idx="35">
                  <c:v>80.7</c:v>
                </c:pt>
                <c:pt idx="36">
                  <c:v>82.3</c:v>
                </c:pt>
              </c:numCache>
            </c:numRef>
          </c:val>
          <c:smooth val="0"/>
        </c:ser>
        <c:dLbls>
          <c:numFmt formatCode="#,##0" sourceLinked="0"/>
          <c:txPr>
            <a:bodyPr/>
            <a:lstStyle/>
            <a:p>
              <a:pPr>
                <a:defRPr b="0" i="0" strike="noStrike" sz="1000" u="none">
                  <a:solidFill>
                    <a:srgbClr val="1F2A1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6F5F"/>
                    </a:solidFill>
                    <a:latin typeface="+mn-lt"/>
                  </a:defRPr>
                </a:pPr>
                <a:r>
                  <a:rPr sz="1100" b="0" i="0" u="none" strike="noStrike">
                    <a:solidFill>
                      <a:srgbClr val="5F6F5F"/>
                    </a:solidFill>
                    <a:latin typeface="+mn-lt"/>
                  </a:rPr>
                  <a:t>Days since application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5F"/>
                </a:solidFill>
                <a:latin typeface="+mn-lt"/>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9525" cap="flat">
              <a:solidFill>
                <a:srgbClr val="E3E8DD"/>
              </a:solidFill>
              <a:prstDash val="solid"/>
              <a:round/>
            </a:ln>
          </c:spPr>
        </c:majorGridlines>
        <c:title>
          <c:tx>
            <c:rich>
              <a:bodyPr/>
              <a:lstStyle/>
              <a:p>
                <a:pPr>
                  <a:defRPr sz="1100" b="0" i="0" u="none" strike="noStrike">
                    <a:solidFill>
                      <a:srgbClr val="5F6F5F"/>
                    </a:solidFill>
                    <a:latin typeface="+mn-lt"/>
                  </a:defRPr>
                </a:pPr>
                <a:r>
                  <a:rPr sz="1100" b="0" i="0" u="none" strike="noStrike">
                    <a:solidFill>
                      <a:srgbClr val="5F6F5F"/>
                    </a:solidFill>
                    <a:latin typeface="+mn-lt"/>
                  </a:rPr>
                  <a:t>Cumulative N released (%)</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F6F5F"/>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F2A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3A1E"/>
                </a:solidFill>
                <a:latin typeface="+mn-lt"/>
              </a:defRPr>
            </a:pPr>
            <a:r>
              <a:rPr sz="1400" b="0" i="0" u="none" strike="noStrike">
                <a:solidFill>
                  <a:srgbClr val="1C3A1E"/>
                </a:solidFill>
                <a:latin typeface="+mn-lt"/>
              </a:rPr>
              <a:t>Simulated release time of a "90-day" coated urea</a:t>
            </a:r>
          </a:p>
        </c:rich>
      </c:tx>
      <c:layout/>
      <c:overlay val="0"/>
    </c:title>
    <c:autoTitleDeleted val="0"/>
    <c:plotArea>
      <c:layout/>
      <c:barChart>
        <c:barDir val="col"/>
        <c:grouping val="clustered"/>
        <c:varyColors val="0"/>
        <c:ser>
          <c:idx val="0"/>
          <c:order val="0"/>
          <c:tx>
            <c:strRef>
              <c:f>Sheet1!$B$1</c:f>
              <c:strCache>
                <c:ptCount val="1"/>
                <c:pt idx="0">
                  <c:v>Field scenarios</c:v>
                </c:pt>
              </c:strCache>
            </c:strRef>
          </c:tx>
          <c:spPr>
            <a:solidFill>
              <a:srgbClr val="2E5E2F"/>
            </a:solidFill>
            <a:effectLst/>
          </c:spPr>
          <c:invertIfNegative val="0"/>
          <c:dLbls>
            <c:numFmt formatCode="#,##0" sourceLinked="0"/>
            <c:txPr>
              <a:bodyPr/>
              <a:lstStyle/>
              <a:p>
                <a:pPr>
                  <a:defRPr b="0" i="0" strike="noStrike" sz="1000" u="none">
                    <a:solidFill>
                      <a:srgbClr val="1F2A1F"/>
                    </a:solidFill>
                    <a:latin typeface="+mn-lt"/>
                  </a:defRPr>
                </a:pPr>
              </a:p>
            </c:txPr>
            <c:showLegendKey val="0"/>
            <c:showVal val="0"/>
            <c:showCatName val="0"/>
            <c:showSerName val="0"/>
            <c:showPercent val="0"/>
            <c:showBubbleSize val="0"/>
            <c:showLeaderLines val="0"/>
          </c:dLbls>
          <c:cat>
            <c:multiLvlStrRef>
              <c:f>Sheet1!$A$2:$A$19</c:f>
              <c:multiLvlStrCache>
                <c:ptCount val="18"/>
                <c:lvl>
                  <c:pt idx="0">
                    <c:v>20–30</c:v>
                  </c:pt>
                  <c:pt idx="1">
                    <c:v>30–40</c:v>
                  </c:pt>
                  <c:pt idx="2">
                    <c:v>40–50</c:v>
                  </c:pt>
                  <c:pt idx="3">
                    <c:v>50–60</c:v>
                  </c:pt>
                  <c:pt idx="4">
                    <c:v>60–70</c:v>
                  </c:pt>
                  <c:pt idx="5">
                    <c:v>70–80</c:v>
                  </c:pt>
                  <c:pt idx="6">
                    <c:v>80–90</c:v>
                  </c:pt>
                  <c:pt idx="7">
                    <c:v>90–100</c:v>
                  </c:pt>
                  <c:pt idx="8">
                    <c:v>100–110</c:v>
                  </c:pt>
                  <c:pt idx="9">
                    <c:v>110–120</c:v>
                  </c:pt>
                  <c:pt idx="10">
                    <c:v>120–130</c:v>
                  </c:pt>
                  <c:pt idx="11">
                    <c:v>130–140</c:v>
                  </c:pt>
                  <c:pt idx="12">
                    <c:v>140–150</c:v>
                  </c:pt>
                  <c:pt idx="13">
                    <c:v>150–160</c:v>
                  </c:pt>
                  <c:pt idx="14">
                    <c:v>160–170</c:v>
                  </c:pt>
                  <c:pt idx="15">
                    <c:v>170–180</c:v>
                  </c:pt>
                  <c:pt idx="16">
                    <c:v>180–190</c:v>
                  </c:pt>
                  <c:pt idx="17">
                    <c:v>190–200</c:v>
                  </c:pt>
                </c:lvl>
              </c:multiLvlStrCache>
            </c:multiLvlStrRef>
          </c:cat>
          <c:val>
            <c:numRef>
              <c:f>Sheet1!$B$2:$B$19</c:f>
              <c:numCache>
                <c:formatCode>General</c:formatCode>
                <c:ptCount val="18"/>
                <c:pt idx="0">
                  <c:v>165</c:v>
                </c:pt>
                <c:pt idx="1">
                  <c:v>354</c:v>
                </c:pt>
                <c:pt idx="2">
                  <c:v>899</c:v>
                </c:pt>
                <c:pt idx="3">
                  <c:v>1803</c:v>
                </c:pt>
                <c:pt idx="4">
                  <c:v>2288</c:v>
                </c:pt>
                <c:pt idx="5">
                  <c:v>1919</c:v>
                </c:pt>
                <c:pt idx="6">
                  <c:v>1265</c:v>
                </c:pt>
                <c:pt idx="7">
                  <c:v>723</c:v>
                </c:pt>
                <c:pt idx="8">
                  <c:v>494</c:v>
                </c:pt>
                <c:pt idx="9">
                  <c:v>357</c:v>
                </c:pt>
                <c:pt idx="10">
                  <c:v>275</c:v>
                </c:pt>
                <c:pt idx="11">
                  <c:v>159</c:v>
                </c:pt>
                <c:pt idx="12">
                  <c:v>102</c:v>
                </c:pt>
                <c:pt idx="13">
                  <c:v>72</c:v>
                </c:pt>
                <c:pt idx="14">
                  <c:v>41</c:v>
                </c:pt>
                <c:pt idx="15">
                  <c:v>33</c:v>
                </c:pt>
                <c:pt idx="16">
                  <c:v>18</c:v>
                </c:pt>
                <c:pt idx="17">
                  <c:v>33</c:v>
                </c:pt>
              </c:numCache>
            </c:numRef>
          </c:val>
        </c:ser>
        <c:dLbls>
          <c:numFmt formatCode="#,##0" sourceLinked="0"/>
          <c:txPr>
            <a:bodyPr/>
            <a:lstStyle/>
            <a:p>
              <a:pPr>
                <a:defRPr b="0" i="0" strike="noStrike" sz="1000" u="none">
                  <a:solidFill>
                    <a:srgbClr val="1F2A1F"/>
                  </a:solidFill>
                  <a:latin typeface="+mn-lt"/>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6F5F"/>
                    </a:solidFill>
                    <a:latin typeface="+mn-lt"/>
                  </a:defRPr>
                </a:pPr>
                <a:r>
                  <a:rPr sz="1100" b="0" i="0" u="none" strike="noStrike">
                    <a:solidFill>
                      <a:srgbClr val="5F6F5F"/>
                    </a:solidFill>
                    <a:latin typeface="+mn-lt"/>
                  </a:rPr>
                  <a:t>Days to 80% release</a:t>
                </a:r>
              </a:p>
            </c:rich>
          </c:tx>
          <c:layout/>
          <c:overlay val="0"/>
        </c:title>
        <c:numFmt formatCode="General" sourceLinked="1"/>
        <c:majorTickMark val="out"/>
        <c:minorTickMark val="none"/>
        <c:tickLblPos val="low"/>
        <c:spPr>
          <a:ln w="12700" cap="flat">
            <a:solidFill>
              <a:srgbClr val="888888"/>
            </a:solidFill>
            <a:prstDash val="solid"/>
            <a:round/>
          </a:ln>
        </c:spPr>
        <c:txPr>
          <a:bodyPr rot="-2700000"/>
          <a:lstStyle/>
          <a:p>
            <a:pPr>
              <a:defRPr sz="1100" b="0" i="0" u="none" strike="noStrike">
                <a:solidFill>
                  <a:srgbClr val="5F6F5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DD"/>
              </a:solidFill>
              <a:prstDash val="solid"/>
              <a:round/>
            </a:ln>
          </c:spPr>
        </c:majorGridlines>
        <c:title>
          <c:tx>
            <c:rich>
              <a:bodyPr/>
              <a:lstStyle/>
              <a:p>
                <a:pPr>
                  <a:defRPr sz="1100" b="0" i="0" u="none" strike="noStrike">
                    <a:solidFill>
                      <a:srgbClr val="5F6F5F"/>
                    </a:solidFill>
                    <a:latin typeface="+mn-lt"/>
                  </a:defRPr>
                </a:pPr>
                <a:r>
                  <a:rPr sz="1100" b="0" i="0" u="none" strike="noStrike">
                    <a:solidFill>
                      <a:srgbClr val="5F6F5F"/>
                    </a:solidFill>
                    <a:latin typeface="+mn-lt"/>
                  </a:rPr>
                  <a:t>Field scenarios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F6F5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3A1E"/>
                </a:solidFill>
                <a:latin typeface="+mn-lt"/>
              </a:defRPr>
            </a:pPr>
            <a:r>
              <a:rPr sz="1400" b="0" i="0" u="none" strike="noStrike">
                <a:solidFill>
                  <a:srgbClr val="1C3A1E"/>
                </a:solidFill>
                <a:latin typeface="+mn-lt"/>
              </a:rPr>
              <a:t>Test R² by model (higher is better)</a:t>
            </a:r>
          </a:p>
        </c:rich>
      </c:tx>
      <c:layout/>
      <c:overlay val="0"/>
    </c:title>
    <c:autoTitleDeleted val="0"/>
    <c:plotArea>
      <c:layout/>
      <c:barChart>
        <c:barDir val="col"/>
        <c:grouping val="clustered"/>
        <c:varyColors val="0"/>
        <c:ser>
          <c:idx val="0"/>
          <c:order val="0"/>
          <c:tx>
            <c:strRef>
              <c:f>Sheet1!$B$1</c:f>
              <c:strCache>
                <c:ptCount val="1"/>
                <c:pt idx="0">
                  <c:v>Release rate</c:v>
                </c:pt>
              </c:strCache>
            </c:strRef>
          </c:tx>
          <c:spPr>
            <a:solidFill>
              <a:srgbClr val="2E5E2F"/>
            </a:solidFill>
            <a:effectLst/>
          </c:spPr>
          <c:invertIfNegative val="0"/>
          <c:dLbls>
            <c:numFmt formatCode="0.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Sheet1!$A$2:$A$5</c:f>
              <c:multiLvlStrCache>
                <c:ptCount val="4"/>
                <c:lvl>
                  <c:pt idx="0">
                    <c:v>Linear Regression</c:v>
                  </c:pt>
                  <c:pt idx="1">
                    <c:v>Polynomial LR (deg 3)</c:v>
                  </c:pt>
                  <c:pt idx="2">
                    <c:v>Decision Tree</c:v>
                  </c:pt>
                  <c:pt idx="3">
                    <c:v>Random Forest</c:v>
                  </c:pt>
                </c:lvl>
              </c:multiLvlStrCache>
            </c:multiLvlStrRef>
          </c:cat>
          <c:val>
            <c:numRef>
              <c:f>Sheet1!$B$2:$B$5</c:f>
              <c:numCache>
                <c:formatCode>General</c:formatCode>
                <c:ptCount val="4"/>
                <c:pt idx="0">
                  <c:v>0.811</c:v>
                </c:pt>
                <c:pt idx="1">
                  <c:v>0.981</c:v>
                </c:pt>
                <c:pt idx="2">
                  <c:v>0.96</c:v>
                </c:pt>
                <c:pt idx="3">
                  <c:v>0.977</c:v>
                </c:pt>
              </c:numCache>
            </c:numRef>
          </c:val>
        </c:ser>
        <c:ser>
          <c:idx val="1"/>
          <c:order val="1"/>
          <c:tx>
            <c:strRef>
              <c:f>Sheet1!$C$1</c:f>
              <c:strCache>
                <c:ptCount val="1"/>
                <c:pt idx="0">
                  <c:v>Cumulative release</c:v>
                </c:pt>
              </c:strCache>
            </c:strRef>
          </c:tx>
          <c:spPr>
            <a:solidFill>
              <a:srgbClr val="97BC62"/>
            </a:solidFill>
            <a:effectLst/>
          </c:spPr>
          <c:invertIfNegative val="0"/>
          <c:dLbls>
            <c:numFmt formatCode="0.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Sheet1!$A$2:$A$5</c:f>
              <c:multiLvlStrCache>
                <c:ptCount val="4"/>
                <c:lvl>
                  <c:pt idx="0">
                    <c:v>Linear Regression</c:v>
                  </c:pt>
                  <c:pt idx="1">
                    <c:v>Polynomial LR (deg 3)</c:v>
                  </c:pt>
                  <c:pt idx="2">
                    <c:v>Decision Tree</c:v>
                  </c:pt>
                  <c:pt idx="3">
                    <c:v>Random Forest</c:v>
                  </c:pt>
                </c:lvl>
              </c:multiLvlStrCache>
            </c:multiLvlStrRef>
          </c:cat>
          <c:val>
            <c:numRef>
              <c:f>Sheet1!$C$2:$C$5</c:f>
              <c:numCache>
                <c:formatCode>General</c:formatCode>
                <c:ptCount val="4"/>
                <c:pt idx="0">
                  <c:v>0.809</c:v>
                </c:pt>
                <c:pt idx="1">
                  <c:v>0.96</c:v>
                </c:pt>
                <c:pt idx="2">
                  <c:v>0.966</c:v>
                </c:pt>
                <c:pt idx="3">
                  <c:v>0.987</c:v>
                </c:pt>
              </c:numCache>
            </c:numRef>
          </c:val>
        </c:ser>
        <c:dLbls>
          <c:numFmt formatCode="0.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5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DD"/>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F6F5F"/>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1F2A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3A1E"/>
                </a:solidFill>
                <a:latin typeface="+mn-lt"/>
              </a:defRPr>
            </a:pPr>
            <a:r>
              <a:rPr sz="1400" b="0" i="0" u="none" strike="noStrike">
                <a:solidFill>
                  <a:srgbClr val="1C3A1E"/>
                </a:solidFill>
                <a:latin typeface="+mn-lt"/>
              </a:rPr>
              <a:t>Test-set scores by model (higher is better)</a:t>
            </a:r>
          </a:p>
        </c:rich>
      </c:tx>
      <c:layout/>
      <c:overlay val="0"/>
    </c:title>
    <c:autoTitleDeleted val="0"/>
    <c:plotArea>
      <c:layout/>
      <c:barChart>
        <c:barDir val="col"/>
        <c:grouping val="clustered"/>
        <c:varyColors val="0"/>
        <c:ser>
          <c:idx val="0"/>
          <c:order val="0"/>
          <c:tx>
            <c:strRef>
              <c:f>Sheet1!$B$1</c:f>
              <c:strCache>
                <c:ptCount val="1"/>
                <c:pt idx="0">
                  <c:v>Decision Tree</c:v>
                </c:pt>
              </c:strCache>
            </c:strRef>
          </c:tx>
          <c:spPr>
            <a:solidFill>
              <a:srgbClr val="D6E4C6"/>
            </a:solidFill>
            <a:effectLst/>
          </c:spPr>
          <c:invertIfNegative val="0"/>
          <c:dLbls>
            <c:numFmt formatCode="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Sheet1!$A$2:$A$5</c:f>
              <c:multiLvlStrCache>
                <c:ptCount val="4"/>
                <c:lvl>
                  <c:pt idx="0">
                    <c:v>Type accuracy</c:v>
                  </c:pt>
                  <c:pt idx="1">
                    <c:v>Coated-grade accuracy</c:v>
                  </c:pt>
                  <c:pt idx="2">
                    <c:v>Amount R²</c:v>
                  </c:pt>
                  <c:pt idx="3">
                    <c:v>Timing R²</c:v>
                  </c:pt>
                </c:lvl>
              </c:multiLvlStrCache>
            </c:multiLvlStrRef>
          </c:cat>
          <c:val>
            <c:numRef>
              <c:f>Sheet1!$B$2:$B$5</c:f>
              <c:numCache>
                <c:formatCode>General</c:formatCode>
                <c:ptCount val="4"/>
                <c:pt idx="0">
                  <c:v>0.8</c:v>
                </c:pt>
                <c:pt idx="1">
                  <c:v>0.75</c:v>
                </c:pt>
                <c:pt idx="2">
                  <c:v>0.99</c:v>
                </c:pt>
                <c:pt idx="3">
                  <c:v>0.96</c:v>
                </c:pt>
              </c:numCache>
            </c:numRef>
          </c:val>
        </c:ser>
        <c:ser>
          <c:idx val="1"/>
          <c:order val="1"/>
          <c:tx>
            <c:strRef>
              <c:f>Sheet1!$C$1</c:f>
              <c:strCache>
                <c:ptCount val="1"/>
                <c:pt idx="0">
                  <c:v>Random Forest</c:v>
                </c:pt>
              </c:strCache>
            </c:strRef>
          </c:tx>
          <c:spPr>
            <a:solidFill>
              <a:srgbClr val="97BC62"/>
            </a:solidFill>
            <a:effectLst/>
          </c:spPr>
          <c:invertIfNegative val="0"/>
          <c:dLbls>
            <c:numFmt formatCode="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Sheet1!$A$2:$A$5</c:f>
              <c:multiLvlStrCache>
                <c:ptCount val="4"/>
                <c:lvl>
                  <c:pt idx="0">
                    <c:v>Type accuracy</c:v>
                  </c:pt>
                  <c:pt idx="1">
                    <c:v>Coated-grade accuracy</c:v>
                  </c:pt>
                  <c:pt idx="2">
                    <c:v>Amount R²</c:v>
                  </c:pt>
                  <c:pt idx="3">
                    <c:v>Timing R²</c:v>
                  </c:pt>
                </c:lvl>
              </c:multiLvlStrCache>
            </c:multiLvlStrRef>
          </c:cat>
          <c:val>
            <c:numRef>
              <c:f>Sheet1!$C$2:$C$5</c:f>
              <c:numCache>
                <c:formatCode>General</c:formatCode>
                <c:ptCount val="4"/>
                <c:pt idx="0">
                  <c:v>0.83</c:v>
                </c:pt>
                <c:pt idx="1">
                  <c:v>0.79</c:v>
                </c:pt>
                <c:pt idx="2">
                  <c:v>0.99</c:v>
                </c:pt>
                <c:pt idx="3">
                  <c:v>0.97</c:v>
                </c:pt>
              </c:numCache>
            </c:numRef>
          </c:val>
        </c:ser>
        <c:ser>
          <c:idx val="2"/>
          <c:order val="2"/>
          <c:tx>
            <c:strRef>
              <c:f>Sheet1!$D$1</c:f>
              <c:strCache>
                <c:ptCount val="1"/>
                <c:pt idx="0">
                  <c:v>XGBoost</c:v>
                </c:pt>
              </c:strCache>
            </c:strRef>
          </c:tx>
          <c:spPr>
            <a:solidFill>
              <a:srgbClr val="2E5E2F"/>
            </a:solidFill>
            <a:effectLst/>
          </c:spPr>
          <c:invertIfNegative val="0"/>
          <c:dLbls>
            <c:numFmt formatCode="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Sheet1!$A$2:$A$5</c:f>
              <c:multiLvlStrCache>
                <c:ptCount val="4"/>
                <c:lvl>
                  <c:pt idx="0">
                    <c:v>Type accuracy</c:v>
                  </c:pt>
                  <c:pt idx="1">
                    <c:v>Coated-grade accuracy</c:v>
                  </c:pt>
                  <c:pt idx="2">
                    <c:v>Amount R²</c:v>
                  </c:pt>
                  <c:pt idx="3">
                    <c:v>Timing R²</c:v>
                  </c:pt>
                </c:lvl>
              </c:multiLvlStrCache>
            </c:multiLvlStrRef>
          </c:cat>
          <c:val>
            <c:numRef>
              <c:f>Sheet1!$D$2:$D$5</c:f>
              <c:numCache>
                <c:formatCode>General</c:formatCode>
                <c:ptCount val="4"/>
                <c:pt idx="0">
                  <c:v>0.86</c:v>
                </c:pt>
                <c:pt idx="1">
                  <c:v>0.8</c:v>
                </c:pt>
                <c:pt idx="2">
                  <c:v>0.99</c:v>
                </c:pt>
                <c:pt idx="3">
                  <c:v>0.98</c:v>
                </c:pt>
              </c:numCache>
            </c:numRef>
          </c:val>
        </c:ser>
        <c:dLbls>
          <c:numFmt formatCode="0.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5F"/>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8DD"/>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F6F5F"/>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1F2A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3A1E"/>
                </a:solidFill>
                <a:latin typeface="+mn-lt"/>
              </a:defRPr>
            </a:pPr>
            <a:r>
              <a:rPr sz="1400" b="0" i="0" u="none" strike="noStrike">
                <a:solidFill>
                  <a:srgbClr val="1C3A1E"/>
                </a:solidFill>
                <a:latin typeface="+mn-lt"/>
              </a:rPr>
              <a:t>Application-timing error, MAE in days (lower is better)</a:t>
            </a:r>
          </a:p>
        </c:rich>
      </c:tx>
      <c:layout/>
      <c:overlay val="0"/>
    </c:title>
    <c:autoTitleDeleted val="0"/>
    <c:plotArea>
      <c:layout/>
      <c:barChart>
        <c:barDir val="col"/>
        <c:grouping val="clustered"/>
        <c:varyColors val="0"/>
        <c:ser>
          <c:idx val="0"/>
          <c:order val="0"/>
          <c:tx>
            <c:strRef>
              <c:f>Sheet1!$B$1</c:f>
              <c:strCache>
                <c:ptCount val="1"/>
                <c:pt idx="0">
                  <c:v>Existing static system</c:v>
                </c:pt>
              </c:strCache>
            </c:strRef>
          </c:tx>
          <c:spPr>
            <a:solidFill>
              <a:srgbClr val="8B5A2B"/>
            </a:solidFill>
            <a:effectLst/>
          </c:spPr>
          <c:invertIfNegative val="0"/>
          <c:dLbls>
            <c:numFmt formatCode="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Sheet1!$A$2:$A$3</c:f>
              <c:multiLvlStrCache>
                <c:ptCount val="2"/>
                <c:lvl>
                  <c:pt idx="0">
                    <c:v>All products</c:v>
                  </c:pt>
                  <c:pt idx="1">
                    <c:v>Coated urea</c:v>
                  </c:pt>
                </c:lvl>
              </c:multiLvlStrCache>
            </c:multiLvlStrRef>
          </c:cat>
          <c:val>
            <c:numRef>
              <c:f>Sheet1!$B$2:$B$3</c:f>
              <c:numCache>
                <c:formatCode>General</c:formatCode>
                <c:ptCount val="2"/>
                <c:pt idx="0">
                  <c:v>9.2</c:v>
                </c:pt>
                <c:pt idx="1">
                  <c:v>22.4</c:v>
                </c:pt>
              </c:numCache>
            </c:numRef>
          </c:val>
        </c:ser>
        <c:ser>
          <c:idx val="1"/>
          <c:order val="1"/>
          <c:tx>
            <c:strRef>
              <c:f>Sheet1!$C$1</c:f>
              <c:strCache>
                <c:ptCount val="1"/>
                <c:pt idx="0">
                  <c:v>ML without Module 1</c:v>
                </c:pt>
              </c:strCache>
            </c:strRef>
          </c:tx>
          <c:spPr>
            <a:solidFill>
              <a:srgbClr val="97BC62"/>
            </a:solidFill>
            <a:effectLst/>
          </c:spPr>
          <c:invertIfNegative val="0"/>
          <c:dLbls>
            <c:numFmt formatCode="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Sheet1!$A$2:$A$3</c:f>
              <c:multiLvlStrCache>
                <c:ptCount val="2"/>
                <c:lvl>
                  <c:pt idx="0">
                    <c:v>All products</c:v>
                  </c:pt>
                  <c:pt idx="1">
                    <c:v>Coated urea</c:v>
                  </c:pt>
                </c:lvl>
              </c:multiLvlStrCache>
            </c:multiLvlStrRef>
          </c:cat>
          <c:val>
            <c:numRef>
              <c:f>Sheet1!$C$2:$C$3</c:f>
              <c:numCache>
                <c:formatCode>General</c:formatCode>
                <c:ptCount val="2"/>
                <c:pt idx="0">
                  <c:v>4.4</c:v>
                </c:pt>
                <c:pt idx="1">
                  <c:v>8.4</c:v>
                </c:pt>
              </c:numCache>
            </c:numRef>
          </c:val>
        </c:ser>
        <c:ser>
          <c:idx val="2"/>
          <c:order val="2"/>
          <c:tx>
            <c:strRef>
              <c:f>Sheet1!$D$1</c:f>
              <c:strCache>
                <c:ptCount val="1"/>
                <c:pt idx="0">
                  <c:v>Proposed dual-module system</c:v>
                </c:pt>
              </c:strCache>
            </c:strRef>
          </c:tx>
          <c:spPr>
            <a:solidFill>
              <a:srgbClr val="2E5E2F"/>
            </a:solidFill>
            <a:effectLst/>
          </c:spPr>
          <c:invertIfNegative val="0"/>
          <c:dLbls>
            <c:numFmt formatCode="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cat>
            <c:multiLvlStrRef>
              <c:f>Sheet1!$A$2:$A$3</c:f>
              <c:multiLvlStrCache>
                <c:ptCount val="2"/>
                <c:lvl>
                  <c:pt idx="0">
                    <c:v>All products</c:v>
                  </c:pt>
                  <c:pt idx="1">
                    <c:v>Coated urea</c:v>
                  </c:pt>
                </c:lvl>
              </c:multiLvlStrCache>
            </c:multiLvlStrRef>
          </c:cat>
          <c:val>
            <c:numRef>
              <c:f>Sheet1!$D$2:$D$3</c:f>
              <c:numCache>
                <c:formatCode>General</c:formatCode>
                <c:ptCount val="2"/>
                <c:pt idx="0">
                  <c:v>2.4</c:v>
                </c:pt>
                <c:pt idx="1">
                  <c:v>4</c:v>
                </c:pt>
              </c:numCache>
            </c:numRef>
          </c:val>
        </c:ser>
        <c:dLbls>
          <c:numFmt formatCode="0.0" sourceLinked="0"/>
          <c:txPr>
            <a:bodyPr/>
            <a:lstStyle/>
            <a:p>
              <a:pPr>
                <a:defRPr b="0" i="0" strike="noStrike" sz="1000" u="none">
                  <a:solidFill>
                    <a:srgbClr val="1F2A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F5F"/>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3E8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F5F"/>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1F2A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sentence: we built a two-stage machine-learning system that first predicts how fast a coated fertilizer actually releases nitrogen in the field, then uses that prediction to recommend which fertilizer to apply, how much,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 on a coated fertilizer is a lab number. The chart shows the same 90-day product under three climates: hot and wet soil releases 80% of its nitrogen by day 44, cool and dry soil only by day 173. Across our dataset the real duration ranges from 40 to 126 days. Farmers and advisors have no tool that adjusts for this, which is why we need a model rather than a lookup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maps to the problem and is measured on data the models never saw during training. All five were achieved; the green pills are the final test-set numbers that we will show in the results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to processing to model to output. Module 1 turns field conditions into a release rate for a standard 90-day coated urea. That rate, plus a synchrony index (how long the product will last divided by how many days of crop demand are left), goes into Module 2 together with the crop information. Module 2 first chooses the product, then sizes the dose and the date of the next application for that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datasets give the soil and climate side: 2,200 Kaggle field records over 22 crops and a crop-wise N-P-K requirement table. Nobody publishes coated-fertilizer release measured under field weather, so we expanded each real record into five season scenarios and computed the release with relationships from the literature: Q10 of 1.8 for temperature, linear coating-thickness effect, a moisture limit, and a Weibull S-curve. We added noise so the models cannot simply memorise a formula. The histogram is our sanity check: a 90-day product lasts 40 to 126 days, matching the swing we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each step. The real data is clean: no missing values and no duplicates. The IQR rule does flag high phosphorus and potassium, but those rows are apple and grape fields where such levels are normal, so removing them would delete two crops. Categorical inputs are one-hot encoded; linear models get standard scaling while tree models do not need it. The most useful engineered feature is the synchrony index, which tells Module 2 how well a product's release matches the crop's remaining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the deck's plan: linear regression and decision trees for Module 1, random forest and XGBoost for Module 2, with a decision tree as the Module 2 baseline. The important methodological point: the test set is touched only once. Model choice is made by 5-fold cross-validation inside the training data, so the reported test scores are not optimistic. We also built an ablation without Module 1 to prove the first module adds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Hyperparameters were either grid-searched (Module 1 decision tree) or set to standard values for this data size. The code snippet is the heart of the system: Module 1's prediction becomes two input columns for Module 2, and Module 2 predicts the product before sizing the dose, because the right amount depends on which product is applied. The project is 8 Python modules plus main.py, predict.py, a notebook and 13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has two targets. For the daily release rate, polynomial linear regression wins with R² 0.98: once squared and cubed terms are added, linear regression can model the exponential temperature effect. For cumulative release, which also depends on time, the random forest wins with R² 0.987. Decision-tree feature importance confirms the physics: coating thickness and soil temperature explain about 97% of the release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is the best model for every Module 2 target under cross-validation, so it is our final model. Type accuracy is 85.7%. That sounds modest, but even the exact rule that labelled the data only reaches 88.4% because we injected realistic disagreement, so XGBoost is close to the best possible. Given the recommended product, amount and timing reach R² 0.99 and 0.98. If the product prediction is wrong the dose is also wrong, so end-to-end R² is 0.76 for amount and 0.83 for timing; be ready to explain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that answers the problem statement. We gave the static system, an ML model without Module 1, and our full system the same recommended product, and measured how far each one's application date is from the agronomically correct date. For coated urea the static 25 degree rating is off by 22 days on average; our system is off by 4. The ablation shows the gain really comes from Module 1: without the predicted release rate, coat-grade accuracy drops from 80% to 71% and timing error doubles.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of predict.py, our command-line application. Live demo option: run python predict.py with no arguments and it asks for each input interactively. Point out that the two fields get opposite coat grades: in hot soil the standard 90-day product would be exhausted in 41 days, so the system picks the thickest coat; in cool, dry soil it picks the thinnest. The notebook Smart_Fertilizer_Project.ipynb shows the whole pipeline if the faculty wants to see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real problem we hit and fixed. The most instructive one is the second: our first amount model had R² of only 0.77 because the dose for an NPK blend is more than twice the dose for urea; once Module 2 predicts the product first and then sizes the dose for that product, R² rises to 0.99.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three sentences: the release model works, the recommender is close to the best achievable, and together they cut coated-urea timing error by 82% compared with today's static practice. Be upfront about the limitation: our release data is simulated from published physics, so the next step is calibrating Module 1 with measured field or lab release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sources first: the Kaggle Crop Recommendation dataset and the Harvestify requirement table. The 1966 Agronomy Journal paper is the basis for our temperature effect; the remaining papers are from our zeroth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2" type="title" hasCustomPrompt="1"/>
          </p:nvPr>
        </p:nvSpPr>
        <p:spPr>
          <a:xfrm>
            <a:off x="731520" y="1005840"/>
            <a:ext cx="10424160" cy="210312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3" type="body" hasCustomPrompt="1"/>
          </p:nvPr>
        </p:nvSpPr>
        <p:spPr>
          <a:xfrm>
            <a:off x="731520" y="3017520"/>
            <a:ext cx="9144000" cy="77724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CSI3001 Data Science Programming  |  Final Review</a:t>
            </a:r>
            <a:endParaRPr lang="en-US" sz="1000" dirty="0"/>
          </a:p>
        </p:txBody>
      </p:sp>
      <p:sp>
        <p:nvSpPr>
          <p:cNvPr id="3" name="Text 1"/>
          <p:cNvSpPr/>
          <p:nvPr>
            <p:ph idx="101" type="title" hasCustomPrompt="1"/>
          </p:nvPr>
        </p:nvSpPr>
        <p:spPr>
          <a:xfrm>
            <a:off x="548640" y="292608"/>
            <a:ext cx="1106424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9509760" cy="77724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3.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566928"/>
            <a:ext cx="8229600" cy="320040"/>
          </a:xfrm>
          <a:prstGeom prst="rect">
            <a:avLst/>
          </a:prstGeom>
          <a:noFill/>
          <a:ln/>
        </p:spPr>
        <p:txBody>
          <a:bodyPr wrap="square" lIns="0" tIns="0" rIns="0" bIns="0" rtlCol="0" anchor="ctr"/>
          <a:lstStyle/>
          <a:p>
            <a:pPr indent="0" marL="0">
              <a:buNone/>
            </a:pPr>
            <a:r>
              <a:rPr lang="en-US" sz="1300" b="1" spc="300" kern="0" dirty="0">
                <a:solidFill>
                  <a:schemeClr val="accent2"/>
                </a:solidFill>
              </a:rPr>
              <a:t>COURSE PROJECT  —  FINAL REVIEW</a:t>
            </a:r>
            <a:endParaRPr lang="en-US" sz="1300" dirty="0"/>
          </a:p>
        </p:txBody>
      </p:sp>
      <p:sp>
        <p:nvSpPr>
          <p:cNvPr id="3" name="Text 0"/>
          <p:cNvSpPr/>
          <p:nvPr>
            <p:ph idx="102" type="title" hasCustomPrompt="1"/>
          </p:nvPr>
        </p:nvSpPr>
        <p:spPr>
          <a:xfrm>
            <a:off x="731520" y="1005840"/>
            <a:ext cx="10424160" cy="210312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AI-Driven Dual-Module System for Predicting Coated-Fertilizer Nutrient Release and Optimizing Crop Recommendations</a:t>
            </a:r>
            <a:endParaRPr lang="en-US" sz="3400" dirty="0"/>
          </a:p>
        </p:txBody>
      </p:sp>
      <p:sp>
        <p:nvSpPr>
          <p:cNvPr id="4" name="Text 0"/>
          <p:cNvSpPr/>
          <p:nvPr>
            <p:ph idx="103" type="body" hasCustomPrompt="1"/>
          </p:nvPr>
        </p:nvSpPr>
        <p:spPr>
          <a:xfrm>
            <a:off x="731520" y="3017520"/>
            <a:ext cx="9144000" cy="777240"/>
          </a:xfrm>
          <a:prstGeom prst="rect">
            <a:avLst/>
          </a:prstGeom>
          <a:noFill/>
          <a:ln/>
        </p:spPr>
        <p:txBody>
          <a:bodyPr wrap="square" lIns="0" tIns="0" rIns="0" bIns="0" rtlCol="0" anchor="t"/>
          <a:lstStyle/>
          <a:p>
            <a:pPr indent="0" marL="0">
              <a:buNone/>
            </a:pPr>
            <a:r>
              <a:rPr lang="en-US" sz="1600" dirty="0">
                <a:solidFill>
                  <a:schemeClr val="bg2"/>
                </a:solidFill>
              </a:rPr>
              <a:t>Data Science Programming  |  CSI3001</a:t>
            </a:r>
            <a:endParaRPr lang="en-US" sz="1600" dirty="0"/>
          </a:p>
          <a:p>
            <a:pPr indent="0" marL="0">
              <a:buNone/>
            </a:pPr>
            <a:r>
              <a:rPr lang="en-US" sz="1600" dirty="0">
                <a:solidFill>
                  <a:schemeClr val="bg2"/>
                </a:solidFill>
              </a:rPr>
              <a:t>Department of M.Tech Integrated Data Science  |  Academic Year 2024–29</a:t>
            </a:r>
            <a:endParaRPr lang="en-US" sz="1600" dirty="0"/>
          </a:p>
        </p:txBody>
      </p:sp>
      <p:sp>
        <p:nvSpPr>
          <p:cNvPr id="5" name="Team card"/>
          <p:cNvSpPr/>
          <p:nvPr/>
        </p:nvSpPr>
        <p:spPr>
          <a:xfrm>
            <a:off x="731520" y="4251960"/>
            <a:ext cx="10698480" cy="1600200"/>
          </a:xfrm>
          <a:prstGeom prst="roundRect">
            <a:avLst>
              <a:gd name="adj" fmla="val 6857"/>
            </a:avLst>
          </a:prstGeom>
          <a:solidFill>
            <a:schemeClr val="accent1"/>
          </a:solidFill>
          <a:ln/>
        </p:spPr>
      </p:sp>
      <p:sp>
        <p:nvSpPr>
          <p:cNvPr id="6" name="Team label"/>
          <p:cNvSpPr txBox="1"/>
          <p:nvPr/>
        </p:nvSpPr>
        <p:spPr>
          <a:xfrm>
            <a:off x="1051560" y="4434840"/>
            <a:ext cx="36576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TEAM MEMBERS</a:t>
            </a:r>
            <a:endParaRPr lang="en-US" sz="1100" dirty="0"/>
          </a:p>
        </p:txBody>
      </p:sp>
      <p:sp>
        <p:nvSpPr>
          <p:cNvPr id="7" name="Member 1"/>
          <p:cNvSpPr txBox="1"/>
          <p:nvPr/>
        </p:nvSpPr>
        <p:spPr>
          <a:xfrm>
            <a:off x="1051560" y="4800600"/>
            <a:ext cx="3383280" cy="8686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latin typeface="Cambria" pitchFamily="34" charset="0"/>
                <a:ea typeface="Cambria" pitchFamily="34" charset="-122"/>
                <a:cs typeface="Cambria" pitchFamily="34" charset="-120"/>
              </a:rPr>
              <a:t>Amit Kumar</a:t>
            </a:r>
            <a:endParaRPr lang="en-US" sz="1900" dirty="0"/>
          </a:p>
          <a:p>
            <a:pPr indent="0" marL="0">
              <a:spcAft>
                <a:spcPts val="400"/>
              </a:spcAft>
              <a:buNone/>
            </a:pPr>
            <a:r>
              <a:rPr lang="en-US" sz="1400" dirty="0">
                <a:solidFill>
                  <a:schemeClr val="bg2"/>
                </a:solidFill>
              </a:rPr>
              <a:t>Reg. No: 24MID0155</a:t>
            </a:r>
            <a:endParaRPr lang="en-US" sz="1900" dirty="0"/>
          </a:p>
        </p:txBody>
      </p:sp>
      <p:sp>
        <p:nvSpPr>
          <p:cNvPr id="8" name="Member 2"/>
          <p:cNvSpPr txBox="1"/>
          <p:nvPr/>
        </p:nvSpPr>
        <p:spPr>
          <a:xfrm>
            <a:off x="4572000" y="4800600"/>
            <a:ext cx="3383280" cy="8686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latin typeface="Cambria" pitchFamily="34" charset="0"/>
                <a:ea typeface="Cambria" pitchFamily="34" charset="-122"/>
                <a:cs typeface="Cambria" pitchFamily="34" charset="-120"/>
              </a:rPr>
              <a:t>Mohammad Afaan Sherief</a:t>
            </a:r>
            <a:endParaRPr lang="en-US" sz="1900" dirty="0"/>
          </a:p>
          <a:p>
            <a:pPr indent="0" marL="0">
              <a:spcAft>
                <a:spcPts val="400"/>
              </a:spcAft>
              <a:buNone/>
            </a:pPr>
            <a:r>
              <a:rPr lang="en-US" sz="1400" dirty="0">
                <a:solidFill>
                  <a:schemeClr val="bg2"/>
                </a:solidFill>
              </a:rPr>
              <a:t>Reg. No: 24MID0178</a:t>
            </a:r>
            <a:endParaRPr lang="en-US" sz="1900" dirty="0"/>
          </a:p>
        </p:txBody>
      </p:sp>
      <p:sp>
        <p:nvSpPr>
          <p:cNvPr id="9" name="Member 3"/>
          <p:cNvSpPr txBox="1"/>
          <p:nvPr/>
        </p:nvSpPr>
        <p:spPr>
          <a:xfrm>
            <a:off x="8092440" y="4800600"/>
            <a:ext cx="3383280" cy="86868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latin typeface="Cambria" pitchFamily="34" charset="0"/>
                <a:ea typeface="Cambria" pitchFamily="34" charset="-122"/>
                <a:cs typeface="Cambria" pitchFamily="34" charset="-120"/>
              </a:rPr>
              <a:t>Bhumi Kumari</a:t>
            </a:r>
            <a:endParaRPr lang="en-US" sz="1900" dirty="0"/>
          </a:p>
          <a:p>
            <a:pPr indent="0" marL="0">
              <a:spcAft>
                <a:spcPts val="400"/>
              </a:spcAft>
              <a:buNone/>
            </a:pPr>
            <a:r>
              <a:rPr lang="en-US" sz="1400" dirty="0">
                <a:solidFill>
                  <a:schemeClr val="bg2"/>
                </a:solidFill>
              </a:rPr>
              <a:t>Reg. No: 24MID0216</a:t>
            </a:r>
            <a:endParaRPr lang="en-US" sz="1900" dirty="0"/>
          </a:p>
        </p:txBody>
      </p:sp>
      <p:sp>
        <p:nvSpPr>
          <p:cNvPr id="10" name="Faculty"/>
          <p:cNvSpPr txBox="1"/>
          <p:nvPr/>
        </p:nvSpPr>
        <p:spPr>
          <a:xfrm>
            <a:off x="731520" y="6080760"/>
            <a:ext cx="8229600" cy="365760"/>
          </a:xfrm>
          <a:prstGeom prst="rect">
            <a:avLst/>
          </a:prstGeom>
          <a:noFill/>
          <a:ln/>
        </p:spPr>
        <p:txBody>
          <a:bodyPr wrap="square" lIns="0" tIns="0" rIns="0" bIns="0" rtlCol="0" anchor="ctr"/>
          <a:lstStyle/>
          <a:p>
            <a:pPr indent="0" marL="0">
              <a:buNone/>
            </a:pPr>
            <a:r>
              <a:rPr lang="en-US" sz="1500" dirty="0">
                <a:solidFill>
                  <a:schemeClr val="bg2"/>
                </a:solidFill>
              </a:rPr>
              <a:t>Faculty / Guide:  Padma Priya 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Problem Statement</a:t>
            </a:r>
            <a:endParaRPr lang="en-US" sz="3400" dirty="0"/>
          </a:p>
        </p:txBody>
      </p:sp>
      <p:sp>
        <p:nvSpPr>
          <p:cNvPr id="3" name="Problem text"/>
          <p:cNvSpPr txBox="1"/>
          <p:nvPr/>
        </p:nvSpPr>
        <p:spPr>
          <a:xfrm>
            <a:off x="548640" y="1280160"/>
            <a:ext cx="5394960" cy="1417320"/>
          </a:xfrm>
          <a:prstGeom prst="rect">
            <a:avLst/>
          </a:prstGeom>
          <a:noFill/>
          <a:ln/>
        </p:spPr>
        <p:txBody>
          <a:bodyPr wrap="square" lIns="0" tIns="0" rIns="0" bIns="0" rtlCol="0" anchor="t"/>
          <a:lstStyle/>
          <a:p>
            <a:pPr indent="0" marL="0">
              <a:buNone/>
            </a:pPr>
            <a:r>
              <a:rPr lang="en-US" sz="1600" dirty="0">
                <a:solidFill>
                  <a:schemeClr val="tx1"/>
                </a:solidFill>
              </a:rPr>
              <a:t>Coated (controlled-release) urea is sold with a fixed release window, e.g. "90 days", measured in the lab at 25 °C. In the field, release speeds up in hot, wet soil and slows in cool, dry soil, so nitrogen arrives too early or too late for the crop.</a:t>
            </a:r>
            <a:endParaRPr lang="en-US" sz="1600" dirty="0"/>
          </a:p>
        </p:txBody>
      </p:sp>
      <p:sp>
        <p:nvSpPr>
          <p:cNvPr id="4" name="Why header"/>
          <p:cNvSpPr txBox="1"/>
          <p:nvPr/>
        </p:nvSpPr>
        <p:spPr>
          <a:xfrm>
            <a:off x="548640" y="2834640"/>
            <a:ext cx="5394960" cy="3657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Why a data-driven solution?</a:t>
            </a:r>
            <a:endParaRPr lang="en-US" sz="1900" dirty="0"/>
          </a:p>
        </p:txBody>
      </p:sp>
      <p:sp>
        <p:nvSpPr>
          <p:cNvPr id="5" name="Why bullets"/>
          <p:cNvSpPr txBox="1"/>
          <p:nvPr/>
        </p:nvSpPr>
        <p:spPr>
          <a:xfrm>
            <a:off x="548640" y="3246120"/>
            <a:ext cx="5394960" cy="1325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Release depends non-linearly on temperature, moisture, rainfall and coating</a:t>
            </a:r>
            <a:endParaRPr lang="en-US" sz="1500" dirty="0"/>
          </a:p>
          <a:p>
            <a:pPr marL="342900" indent="-342900">
              <a:spcAft>
                <a:spcPts val="600"/>
              </a:spcAft>
              <a:buSzPct val="100000"/>
              <a:buChar char="•"/>
            </a:pPr>
            <a:r>
              <a:rPr lang="en-US" sz="1500" dirty="0">
                <a:solidFill>
                  <a:schemeClr val="tx1"/>
                </a:solidFill>
              </a:rPr>
              <a:t>Soil-test charts give one static rate and ignore in-season weather</a:t>
            </a:r>
            <a:endParaRPr lang="en-US" sz="1500" dirty="0"/>
          </a:p>
          <a:p>
            <a:pPr marL="342900" indent="-342900">
              <a:spcAft>
                <a:spcPts val="600"/>
              </a:spcAft>
              <a:buSzPct val="100000"/>
              <a:buChar char="•"/>
            </a:pPr>
            <a:r>
              <a:rPr lang="en-US" sz="1500" dirty="0">
                <a:solidFill>
                  <a:schemeClr val="tx1"/>
                </a:solidFill>
              </a:rPr>
              <a:t>Only 30–50% of applied nitrogen is taken up by crops</a:t>
            </a:r>
            <a:endParaRPr lang="en-US" sz="1500" dirty="0"/>
          </a:p>
        </p:txBody>
      </p:sp>
      <p:sp>
        <p:nvSpPr>
          <p:cNvPr id="6" name="Users header"/>
          <p:cNvSpPr txBox="1"/>
          <p:nvPr/>
        </p:nvSpPr>
        <p:spPr>
          <a:xfrm>
            <a:off x="548640" y="4754880"/>
            <a:ext cx="5394960" cy="32004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Who uses it</a:t>
            </a:r>
            <a:endParaRPr lang="en-US" sz="1700" dirty="0"/>
          </a:p>
        </p:txBody>
      </p:sp>
      <p:sp>
        <p:nvSpPr>
          <p:cNvPr id="7" name="User 1 circle"/>
          <p:cNvSpPr/>
          <p:nvPr/>
        </p:nvSpPr>
        <p:spPr>
          <a:xfrm>
            <a:off x="548640" y="5166360"/>
            <a:ext cx="548640" cy="548640"/>
          </a:xfrm>
          <a:prstGeom prst="ellipse">
            <a:avLst/>
          </a:prstGeom>
          <a:solidFill>
            <a:srgbClr val="F1F5EC"/>
          </a:solidFill>
          <a:ln/>
        </p:spPr>
      </p:sp>
      <p:pic>
        <p:nvPicPr>
          <p:cNvPr id="8" name="User 1 icon" descr="preencoded.png">    </p:cNvPr>
          <p:cNvPicPr>
            <a:picLocks noChangeAspect="1"/>
          </p:cNvPicPr>
          <p:nvPr/>
        </p:nvPicPr>
        <p:blipFill>
          <a:blip r:embed="rId1"/>
          <a:stretch>
            <a:fillRect/>
          </a:stretch>
        </p:blipFill>
        <p:spPr>
          <a:xfrm>
            <a:off x="685800" y="5303520"/>
            <a:ext cx="274320" cy="274320"/>
          </a:xfrm>
          <a:prstGeom prst="rect">
            <a:avLst/>
          </a:prstGeom>
        </p:spPr>
      </p:pic>
      <p:sp>
        <p:nvSpPr>
          <p:cNvPr id="9" name="User label 1"/>
          <p:cNvSpPr txBox="1"/>
          <p:nvPr/>
        </p:nvSpPr>
        <p:spPr>
          <a:xfrm>
            <a:off x="1170432" y="5120640"/>
            <a:ext cx="1170432" cy="685800"/>
          </a:xfrm>
          <a:prstGeom prst="rect">
            <a:avLst/>
          </a:prstGeom>
          <a:noFill/>
          <a:ln/>
        </p:spPr>
        <p:txBody>
          <a:bodyPr wrap="square" lIns="0" tIns="0" rIns="0" bIns="0" rtlCol="0" anchor="ctr"/>
          <a:lstStyle/>
          <a:p>
            <a:pPr indent="0" marL="0">
              <a:buNone/>
            </a:pPr>
            <a:r>
              <a:rPr lang="en-US" sz="1200" dirty="0">
                <a:solidFill>
                  <a:schemeClr val="tx1"/>
                </a:solidFill>
              </a:rPr>
              <a:t>Farmers</a:t>
            </a:r>
            <a:endParaRPr lang="en-US" sz="1200" dirty="0"/>
          </a:p>
        </p:txBody>
      </p:sp>
      <p:sp>
        <p:nvSpPr>
          <p:cNvPr id="10" name="User 2 circle"/>
          <p:cNvSpPr/>
          <p:nvPr/>
        </p:nvSpPr>
        <p:spPr>
          <a:xfrm>
            <a:off x="2377440" y="5166360"/>
            <a:ext cx="548640" cy="548640"/>
          </a:xfrm>
          <a:prstGeom prst="ellipse">
            <a:avLst/>
          </a:prstGeom>
          <a:solidFill>
            <a:srgbClr val="F1F5EC"/>
          </a:solidFill>
          <a:ln/>
        </p:spPr>
      </p:sp>
      <p:pic>
        <p:nvPicPr>
          <p:cNvPr id="11" name="User 2 icon" descr="preencoded.png">    </p:cNvPr>
          <p:cNvPicPr>
            <a:picLocks noChangeAspect="1"/>
          </p:cNvPicPr>
          <p:nvPr/>
        </p:nvPicPr>
        <p:blipFill>
          <a:blip r:embed="rId2"/>
          <a:stretch>
            <a:fillRect/>
          </a:stretch>
        </p:blipFill>
        <p:spPr>
          <a:xfrm>
            <a:off x="2514600" y="5303520"/>
            <a:ext cx="274320" cy="274320"/>
          </a:xfrm>
          <a:prstGeom prst="rect">
            <a:avLst/>
          </a:prstGeom>
        </p:spPr>
      </p:pic>
      <p:sp>
        <p:nvSpPr>
          <p:cNvPr id="12" name="User label 2"/>
          <p:cNvSpPr txBox="1"/>
          <p:nvPr/>
        </p:nvSpPr>
        <p:spPr>
          <a:xfrm>
            <a:off x="2999232" y="5120640"/>
            <a:ext cx="1170432" cy="685800"/>
          </a:xfrm>
          <a:prstGeom prst="rect">
            <a:avLst/>
          </a:prstGeom>
          <a:noFill/>
          <a:ln/>
        </p:spPr>
        <p:txBody>
          <a:bodyPr wrap="square" lIns="0" tIns="0" rIns="0" bIns="0" rtlCol="0" anchor="ctr"/>
          <a:lstStyle/>
          <a:p>
            <a:pPr indent="0" marL="0">
              <a:buNone/>
            </a:pPr>
            <a:r>
              <a:rPr lang="en-US" sz="1200" dirty="0">
                <a:solidFill>
                  <a:schemeClr val="tx1"/>
                </a:solidFill>
              </a:rPr>
              <a:t>Agronomists &amp; extension officers</a:t>
            </a:r>
            <a:endParaRPr lang="en-US" sz="1200" dirty="0"/>
          </a:p>
        </p:txBody>
      </p:sp>
      <p:sp>
        <p:nvSpPr>
          <p:cNvPr id="13" name="User 3 circle"/>
          <p:cNvSpPr/>
          <p:nvPr/>
        </p:nvSpPr>
        <p:spPr>
          <a:xfrm>
            <a:off x="4206240" y="5166360"/>
            <a:ext cx="548640" cy="548640"/>
          </a:xfrm>
          <a:prstGeom prst="ellipse">
            <a:avLst/>
          </a:prstGeom>
          <a:solidFill>
            <a:srgbClr val="F1F5EC"/>
          </a:solidFill>
          <a:ln/>
        </p:spPr>
      </p:sp>
      <p:pic>
        <p:nvPicPr>
          <p:cNvPr id="14" name="User 3 icon" descr="preencoded.png">    </p:cNvPr>
          <p:cNvPicPr>
            <a:picLocks noChangeAspect="1"/>
          </p:cNvPicPr>
          <p:nvPr/>
        </p:nvPicPr>
        <p:blipFill>
          <a:blip r:embed="rId3"/>
          <a:stretch>
            <a:fillRect/>
          </a:stretch>
        </p:blipFill>
        <p:spPr>
          <a:xfrm>
            <a:off x="4343400" y="5303520"/>
            <a:ext cx="274320" cy="274320"/>
          </a:xfrm>
          <a:prstGeom prst="rect">
            <a:avLst/>
          </a:prstGeom>
        </p:spPr>
      </p:pic>
      <p:sp>
        <p:nvSpPr>
          <p:cNvPr id="15" name="User label 3"/>
          <p:cNvSpPr txBox="1"/>
          <p:nvPr/>
        </p:nvSpPr>
        <p:spPr>
          <a:xfrm>
            <a:off x="4828032" y="5120640"/>
            <a:ext cx="1170432" cy="685800"/>
          </a:xfrm>
          <a:prstGeom prst="rect">
            <a:avLst/>
          </a:prstGeom>
          <a:noFill/>
          <a:ln/>
        </p:spPr>
        <p:txBody>
          <a:bodyPr wrap="square" lIns="0" tIns="0" rIns="0" bIns="0" rtlCol="0" anchor="ctr"/>
          <a:lstStyle/>
          <a:p>
            <a:pPr indent="0" marL="0">
              <a:buNone/>
            </a:pPr>
            <a:r>
              <a:rPr lang="en-US" sz="1200" dirty="0">
                <a:solidFill>
                  <a:schemeClr val="tx1"/>
                </a:solidFill>
              </a:rPr>
              <a:t>Fertilizer advisory &amp; agri-tech apps</a:t>
            </a:r>
            <a:endParaRPr lang="en-US" sz="1200" dirty="0"/>
          </a:p>
        </p:txBody>
      </p:sp>
      <p:graphicFrame>
        <p:nvGraphicFramePr>
          <p:cNvPr id="16" name="Release curves chart" descr=""/>
          <p:cNvGraphicFramePr/>
          <p:nvPr/>
        </p:nvGraphicFramePr>
        <p:xfrm>
          <a:off x="6263640" y="1234440"/>
          <a:ext cx="5394960" cy="3703320"/>
        </p:xfrm>
        <a:graphic xmlns:a="http://schemas.openxmlformats.org/drawingml/2006/main">
          <a:graphicData uri="http://schemas.openxmlformats.org/drawingml/2006/chart">
            <c:chart xmlns:c="http://schemas.openxmlformats.org/drawingml/2006/chart" r:id="rId4"/>
          </a:graphicData>
        </a:graphic>
      </p:graphicFrame>
      <p:sp>
        <p:nvSpPr>
          <p:cNvPr id="17" name="Swing stat card"/>
          <p:cNvSpPr/>
          <p:nvPr/>
        </p:nvSpPr>
        <p:spPr>
          <a:xfrm>
            <a:off x="6263640" y="5120640"/>
            <a:ext cx="5394960" cy="1097280"/>
          </a:xfrm>
          <a:prstGeom prst="roundRect">
            <a:avLst>
              <a:gd name="adj" fmla="val 8333"/>
            </a:avLst>
          </a:prstGeom>
          <a:solidFill>
            <a:schemeClr val="bg2"/>
          </a:solidFill>
          <a:ln/>
        </p:spPr>
      </p:sp>
      <p:sp>
        <p:nvSpPr>
          <p:cNvPr id="18" name="Swing stat"/>
          <p:cNvSpPr txBox="1"/>
          <p:nvPr/>
        </p:nvSpPr>
        <p:spPr>
          <a:xfrm>
            <a:off x="6446520" y="5193792"/>
            <a:ext cx="2377440" cy="9601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40–126 days</a:t>
            </a:r>
            <a:endParaRPr lang="en-US" sz="2800" dirty="0"/>
          </a:p>
        </p:txBody>
      </p:sp>
      <p:sp>
        <p:nvSpPr>
          <p:cNvPr id="19" name="Swing caption"/>
          <p:cNvSpPr txBox="1"/>
          <p:nvPr/>
        </p:nvSpPr>
        <p:spPr>
          <a:xfrm>
            <a:off x="8869680" y="5193792"/>
            <a:ext cx="2651760" cy="960120"/>
          </a:xfrm>
          <a:prstGeom prst="rect">
            <a:avLst/>
          </a:prstGeom>
          <a:noFill/>
          <a:ln/>
        </p:spPr>
        <p:txBody>
          <a:bodyPr wrap="square" lIns="0" tIns="0" rIns="0" bIns="0" rtlCol="0" anchor="ctr"/>
          <a:lstStyle/>
          <a:p>
            <a:pPr indent="0" marL="0">
              <a:buNone/>
            </a:pPr>
            <a:r>
              <a:rPr lang="en-US" sz="1200" dirty="0">
                <a:solidFill>
                  <a:schemeClr val="tx1"/>
                </a:solidFill>
              </a:rPr>
              <a:t>actual release time of a "90-day" product across 90% of the 11,000 field scenarios in our data</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Objectives</a:t>
            </a:r>
            <a:endParaRPr lang="en-US" sz="3400" dirty="0"/>
          </a:p>
        </p:txBody>
      </p:sp>
      <p:sp>
        <p:nvSpPr>
          <p:cNvPr id="3" name="Hdr objective"/>
          <p:cNvSpPr txBox="1"/>
          <p:nvPr/>
        </p:nvSpPr>
        <p:spPr>
          <a:xfrm>
            <a:off x="1325880" y="1234440"/>
            <a:ext cx="45720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OBJECTIVE</a:t>
            </a:r>
            <a:endParaRPr lang="en-US" sz="1100" dirty="0"/>
          </a:p>
        </p:txBody>
      </p:sp>
      <p:sp>
        <p:nvSpPr>
          <p:cNvPr id="4" name="Hdr measure"/>
          <p:cNvSpPr txBox="1"/>
          <p:nvPr/>
        </p:nvSpPr>
        <p:spPr>
          <a:xfrm>
            <a:off x="7269480" y="1234440"/>
            <a:ext cx="219456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MEASURED BY</a:t>
            </a:r>
            <a:endParaRPr lang="en-US" sz="1100" dirty="0"/>
          </a:p>
        </p:txBody>
      </p:sp>
      <p:sp>
        <p:nvSpPr>
          <p:cNvPr id="5" name="Hdr result"/>
          <p:cNvSpPr txBox="1"/>
          <p:nvPr/>
        </p:nvSpPr>
        <p:spPr>
          <a:xfrm>
            <a:off x="9646920" y="1234440"/>
            <a:ext cx="201168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RESULT</a:t>
            </a:r>
            <a:endParaRPr lang="en-US" sz="1100" dirty="0"/>
          </a:p>
        </p:txBody>
      </p:sp>
      <p:sp>
        <p:nvSpPr>
          <p:cNvPr id="6" name="Objective row 1"/>
          <p:cNvSpPr/>
          <p:nvPr/>
        </p:nvSpPr>
        <p:spPr>
          <a:xfrm>
            <a:off x="548640" y="1572768"/>
            <a:ext cx="11091672" cy="822960"/>
          </a:xfrm>
          <a:prstGeom prst="roundRect">
            <a:avLst>
              <a:gd name="adj" fmla="val 8889"/>
            </a:avLst>
          </a:prstGeom>
          <a:solidFill>
            <a:schemeClr val="bg2"/>
          </a:solidFill>
          <a:ln/>
        </p:spPr>
      </p:sp>
      <p:sp>
        <p:nvSpPr>
          <p:cNvPr id="7" name="Objective num bg 1"/>
          <p:cNvSpPr/>
          <p:nvPr/>
        </p:nvSpPr>
        <p:spPr>
          <a:xfrm>
            <a:off x="713232" y="1728216"/>
            <a:ext cx="512064" cy="512064"/>
          </a:xfrm>
          <a:prstGeom prst="ellipse">
            <a:avLst/>
          </a:prstGeom>
          <a:solidFill>
            <a:schemeClr val="accent1"/>
          </a:solidFill>
          <a:ln/>
        </p:spPr>
      </p:sp>
      <p:sp>
        <p:nvSpPr>
          <p:cNvPr id="8" name="Objective num 1"/>
          <p:cNvSpPr txBox="1"/>
          <p:nvPr/>
        </p:nvSpPr>
        <p:spPr>
          <a:xfrm>
            <a:off x="713232" y="172821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9" name="Objective text 1"/>
          <p:cNvSpPr txBox="1"/>
          <p:nvPr/>
        </p:nvSpPr>
        <p:spPr>
          <a:xfrm>
            <a:off x="1325880" y="1572768"/>
            <a:ext cx="5760720" cy="822960"/>
          </a:xfrm>
          <a:prstGeom prst="rect">
            <a:avLst/>
          </a:prstGeom>
          <a:noFill/>
          <a:ln/>
        </p:spPr>
        <p:txBody>
          <a:bodyPr wrap="square" lIns="0" tIns="0" rIns="0" bIns="0" rtlCol="0" anchor="ctr"/>
          <a:lstStyle/>
          <a:p>
            <a:pPr indent="0" marL="0">
              <a:buNone/>
            </a:pPr>
            <a:r>
              <a:rPr lang="en-US" sz="1600" b="1" dirty="0">
                <a:solidFill>
                  <a:schemeClr val="tx2"/>
                </a:solidFill>
              </a:rPr>
              <a:t>Predict real-time nutrient release</a:t>
            </a:r>
            <a:endParaRPr lang="en-US" sz="1600" dirty="0"/>
          </a:p>
          <a:p>
            <a:pPr indent="0" marL="0">
              <a:buNone/>
            </a:pPr>
            <a:r>
              <a:rPr lang="en-US" sz="1300" dirty="0">
                <a:solidFill>
                  <a:schemeClr val="tx1"/>
                </a:solidFill>
              </a:rPr>
              <a:t>from soil temperature, moisture, rainfall, pH and coating thickness</a:t>
            </a:r>
            <a:endParaRPr lang="en-US" sz="1600" dirty="0"/>
          </a:p>
        </p:txBody>
      </p:sp>
      <p:sp>
        <p:nvSpPr>
          <p:cNvPr id="10" name="Objective measure 1"/>
          <p:cNvSpPr txBox="1"/>
          <p:nvPr/>
        </p:nvSpPr>
        <p:spPr>
          <a:xfrm>
            <a:off x="7269480" y="1572768"/>
            <a:ext cx="2240280" cy="822960"/>
          </a:xfrm>
          <a:prstGeom prst="rect">
            <a:avLst/>
          </a:prstGeom>
          <a:noFill/>
          <a:ln/>
        </p:spPr>
        <p:txBody>
          <a:bodyPr wrap="square" lIns="0" tIns="0" rIns="0" bIns="0" rtlCol="0" anchor="ctr"/>
          <a:lstStyle/>
          <a:p>
            <a:pPr indent="0" marL="0">
              <a:buNone/>
            </a:pPr>
            <a:r>
              <a:rPr lang="en-US" sz="1300" dirty="0">
                <a:solidFill>
                  <a:schemeClr val="tx1"/>
                </a:solidFill>
              </a:rPr>
              <a:t>R² on the 20% test set</a:t>
            </a:r>
            <a:endParaRPr lang="en-US" sz="1300" dirty="0"/>
          </a:p>
        </p:txBody>
      </p:sp>
      <p:sp>
        <p:nvSpPr>
          <p:cNvPr id="11" name="Result pill 1"/>
          <p:cNvSpPr/>
          <p:nvPr/>
        </p:nvSpPr>
        <p:spPr>
          <a:xfrm>
            <a:off x="9601200" y="1737360"/>
            <a:ext cx="1901952" cy="493776"/>
          </a:xfrm>
          <a:prstGeom prst="roundRect">
            <a:avLst>
              <a:gd name="adj" fmla="val 50000"/>
            </a:avLst>
          </a:prstGeom>
          <a:solidFill>
            <a:schemeClr val="accent1"/>
          </a:solidFill>
          <a:ln/>
        </p:spPr>
      </p:sp>
      <p:sp>
        <p:nvSpPr>
          <p:cNvPr id="12" name="Result text 1"/>
          <p:cNvSpPr txBox="1"/>
          <p:nvPr/>
        </p:nvSpPr>
        <p:spPr>
          <a:xfrm>
            <a:off x="9601200" y="1737360"/>
            <a:ext cx="1901952" cy="493776"/>
          </a:xfrm>
          <a:prstGeom prst="rect">
            <a:avLst/>
          </a:prstGeom>
          <a:noFill/>
          <a:ln/>
        </p:spPr>
        <p:txBody>
          <a:bodyPr wrap="square" lIns="0" tIns="0" rIns="0" bIns="0" rtlCol="0" anchor="ctr"/>
          <a:lstStyle/>
          <a:p>
            <a:pPr algn="ctr" indent="0" marL="0">
              <a:buNone/>
            </a:pPr>
            <a:r>
              <a:rPr lang="en-US" sz="1400" b="1" dirty="0">
                <a:solidFill>
                  <a:schemeClr val="bg1"/>
                </a:solidFill>
              </a:rPr>
              <a:t>R² 0.98 – 0.99</a:t>
            </a:r>
            <a:endParaRPr lang="en-US" sz="1400" dirty="0"/>
          </a:p>
        </p:txBody>
      </p:sp>
      <p:sp>
        <p:nvSpPr>
          <p:cNvPr id="13" name="Objective row 2"/>
          <p:cNvSpPr/>
          <p:nvPr/>
        </p:nvSpPr>
        <p:spPr>
          <a:xfrm>
            <a:off x="548640" y="2487168"/>
            <a:ext cx="11091672" cy="822960"/>
          </a:xfrm>
          <a:prstGeom prst="roundRect">
            <a:avLst>
              <a:gd name="adj" fmla="val 8889"/>
            </a:avLst>
          </a:prstGeom>
          <a:solidFill>
            <a:schemeClr val="bg2"/>
          </a:solidFill>
          <a:ln/>
        </p:spPr>
      </p:sp>
      <p:sp>
        <p:nvSpPr>
          <p:cNvPr id="14" name="Objective num bg 2"/>
          <p:cNvSpPr/>
          <p:nvPr/>
        </p:nvSpPr>
        <p:spPr>
          <a:xfrm>
            <a:off x="713232" y="2642616"/>
            <a:ext cx="512064" cy="512064"/>
          </a:xfrm>
          <a:prstGeom prst="ellipse">
            <a:avLst/>
          </a:prstGeom>
          <a:solidFill>
            <a:schemeClr val="accent1"/>
          </a:solidFill>
          <a:ln/>
        </p:spPr>
      </p:sp>
      <p:sp>
        <p:nvSpPr>
          <p:cNvPr id="15" name="Objective num 2"/>
          <p:cNvSpPr txBox="1"/>
          <p:nvPr/>
        </p:nvSpPr>
        <p:spPr>
          <a:xfrm>
            <a:off x="713232" y="264261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6" name="Objective text 2"/>
          <p:cNvSpPr txBox="1"/>
          <p:nvPr/>
        </p:nvSpPr>
        <p:spPr>
          <a:xfrm>
            <a:off x="1325880" y="2487168"/>
            <a:ext cx="5760720" cy="822960"/>
          </a:xfrm>
          <a:prstGeom prst="rect">
            <a:avLst/>
          </a:prstGeom>
          <a:noFill/>
          <a:ln/>
        </p:spPr>
        <p:txBody>
          <a:bodyPr wrap="square" lIns="0" tIns="0" rIns="0" bIns="0" rtlCol="0" anchor="ctr"/>
          <a:lstStyle/>
          <a:p>
            <a:pPr indent="0" marL="0">
              <a:buNone/>
            </a:pPr>
            <a:r>
              <a:rPr lang="en-US" sz="1600" b="1" dirty="0">
                <a:solidFill>
                  <a:schemeClr val="tx2"/>
                </a:solidFill>
              </a:rPr>
              <a:t>Recommend the right fertilizer type</a:t>
            </a:r>
            <a:endParaRPr lang="en-US" sz="1600" dirty="0"/>
          </a:p>
          <a:p>
            <a:pPr indent="0" marL="0">
              <a:buNone/>
            </a:pPr>
            <a:r>
              <a:rPr lang="en-US" sz="1300" dirty="0">
                <a:solidFill>
                  <a:schemeClr val="tx1"/>
                </a:solidFill>
              </a:rPr>
              <a:t>7 products, including 3 coated-urea grades</a:t>
            </a:r>
            <a:endParaRPr lang="en-US" sz="1600" dirty="0"/>
          </a:p>
        </p:txBody>
      </p:sp>
      <p:sp>
        <p:nvSpPr>
          <p:cNvPr id="17" name="Objective measure 2"/>
          <p:cNvSpPr txBox="1"/>
          <p:nvPr/>
        </p:nvSpPr>
        <p:spPr>
          <a:xfrm>
            <a:off x="7269480" y="2487168"/>
            <a:ext cx="2240280" cy="822960"/>
          </a:xfrm>
          <a:prstGeom prst="rect">
            <a:avLst/>
          </a:prstGeom>
          <a:noFill/>
          <a:ln/>
        </p:spPr>
        <p:txBody>
          <a:bodyPr wrap="square" lIns="0" tIns="0" rIns="0" bIns="0" rtlCol="0" anchor="ctr"/>
          <a:lstStyle/>
          <a:p>
            <a:pPr indent="0" marL="0">
              <a:buNone/>
            </a:pPr>
            <a:r>
              <a:rPr lang="en-US" sz="1300" dirty="0">
                <a:solidFill>
                  <a:schemeClr val="tx1"/>
                </a:solidFill>
              </a:rPr>
              <a:t>Test accuracy (ceiling 88.4%)</a:t>
            </a:r>
            <a:endParaRPr lang="en-US" sz="1300" dirty="0"/>
          </a:p>
        </p:txBody>
      </p:sp>
      <p:sp>
        <p:nvSpPr>
          <p:cNvPr id="18" name="Result pill 2"/>
          <p:cNvSpPr/>
          <p:nvPr/>
        </p:nvSpPr>
        <p:spPr>
          <a:xfrm>
            <a:off x="9601200" y="2651760"/>
            <a:ext cx="1901952" cy="493776"/>
          </a:xfrm>
          <a:prstGeom prst="roundRect">
            <a:avLst>
              <a:gd name="adj" fmla="val 50000"/>
            </a:avLst>
          </a:prstGeom>
          <a:solidFill>
            <a:schemeClr val="accent1"/>
          </a:solidFill>
          <a:ln/>
        </p:spPr>
      </p:sp>
      <p:sp>
        <p:nvSpPr>
          <p:cNvPr id="19" name="Result text 2"/>
          <p:cNvSpPr txBox="1"/>
          <p:nvPr/>
        </p:nvSpPr>
        <p:spPr>
          <a:xfrm>
            <a:off x="9601200" y="2651760"/>
            <a:ext cx="1901952" cy="493776"/>
          </a:xfrm>
          <a:prstGeom prst="rect">
            <a:avLst/>
          </a:prstGeom>
          <a:noFill/>
          <a:ln/>
        </p:spPr>
        <p:txBody>
          <a:bodyPr wrap="square" lIns="0" tIns="0" rIns="0" bIns="0" rtlCol="0" anchor="ctr"/>
          <a:lstStyle/>
          <a:p>
            <a:pPr algn="ctr" indent="0" marL="0">
              <a:buNone/>
            </a:pPr>
            <a:r>
              <a:rPr lang="en-US" sz="1400" b="1" dirty="0">
                <a:solidFill>
                  <a:schemeClr val="bg1"/>
                </a:solidFill>
              </a:rPr>
              <a:t>85.7% accuracy</a:t>
            </a:r>
            <a:endParaRPr lang="en-US" sz="1400" dirty="0"/>
          </a:p>
        </p:txBody>
      </p:sp>
      <p:sp>
        <p:nvSpPr>
          <p:cNvPr id="20" name="Objective row 3"/>
          <p:cNvSpPr/>
          <p:nvPr/>
        </p:nvSpPr>
        <p:spPr>
          <a:xfrm>
            <a:off x="548640" y="3401568"/>
            <a:ext cx="11091672" cy="822960"/>
          </a:xfrm>
          <a:prstGeom prst="roundRect">
            <a:avLst>
              <a:gd name="adj" fmla="val 8889"/>
            </a:avLst>
          </a:prstGeom>
          <a:solidFill>
            <a:schemeClr val="bg2"/>
          </a:solidFill>
          <a:ln/>
        </p:spPr>
      </p:sp>
      <p:sp>
        <p:nvSpPr>
          <p:cNvPr id="21" name="Objective num bg 3"/>
          <p:cNvSpPr/>
          <p:nvPr/>
        </p:nvSpPr>
        <p:spPr>
          <a:xfrm>
            <a:off x="713232" y="3557016"/>
            <a:ext cx="512064" cy="512064"/>
          </a:xfrm>
          <a:prstGeom prst="ellipse">
            <a:avLst/>
          </a:prstGeom>
          <a:solidFill>
            <a:schemeClr val="accent1"/>
          </a:solidFill>
          <a:ln/>
        </p:spPr>
      </p:sp>
      <p:sp>
        <p:nvSpPr>
          <p:cNvPr id="22" name="Objective num 3"/>
          <p:cNvSpPr txBox="1"/>
          <p:nvPr/>
        </p:nvSpPr>
        <p:spPr>
          <a:xfrm>
            <a:off x="713232" y="355701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23" name="Objective text 3"/>
          <p:cNvSpPr txBox="1"/>
          <p:nvPr/>
        </p:nvSpPr>
        <p:spPr>
          <a:xfrm>
            <a:off x="1325880" y="3401568"/>
            <a:ext cx="5760720" cy="822960"/>
          </a:xfrm>
          <a:prstGeom prst="rect">
            <a:avLst/>
          </a:prstGeom>
          <a:noFill/>
          <a:ln/>
        </p:spPr>
        <p:txBody>
          <a:bodyPr wrap="square" lIns="0" tIns="0" rIns="0" bIns="0" rtlCol="0" anchor="ctr"/>
          <a:lstStyle/>
          <a:p>
            <a:pPr indent="0" marL="0">
              <a:buNone/>
            </a:pPr>
            <a:r>
              <a:rPr lang="en-US" sz="1600" b="1" dirty="0">
                <a:solidFill>
                  <a:schemeClr val="tx2"/>
                </a:solidFill>
              </a:rPr>
              <a:t>Recommend amount and timing</a:t>
            </a:r>
            <a:endParaRPr lang="en-US" sz="1600" dirty="0"/>
          </a:p>
          <a:p>
            <a:pPr indent="0" marL="0">
              <a:buNone/>
            </a:pPr>
            <a:r>
              <a:rPr lang="en-US" sz="1300" dirty="0">
                <a:solidFill>
                  <a:schemeClr val="tx1"/>
                </a:solidFill>
              </a:rPr>
              <a:t>kg/ha of product and days to the next application</a:t>
            </a:r>
            <a:endParaRPr lang="en-US" sz="1600" dirty="0"/>
          </a:p>
        </p:txBody>
      </p:sp>
      <p:sp>
        <p:nvSpPr>
          <p:cNvPr id="24" name="Objective measure 3"/>
          <p:cNvSpPr txBox="1"/>
          <p:nvPr/>
        </p:nvSpPr>
        <p:spPr>
          <a:xfrm>
            <a:off x="7269480" y="3401568"/>
            <a:ext cx="2240280" cy="822960"/>
          </a:xfrm>
          <a:prstGeom prst="rect">
            <a:avLst/>
          </a:prstGeom>
          <a:noFill/>
          <a:ln/>
        </p:spPr>
        <p:txBody>
          <a:bodyPr wrap="square" lIns="0" tIns="0" rIns="0" bIns="0" rtlCol="0" anchor="ctr"/>
          <a:lstStyle/>
          <a:p>
            <a:pPr indent="0" marL="0">
              <a:buNone/>
            </a:pPr>
            <a:r>
              <a:rPr lang="en-US" sz="1300" dirty="0">
                <a:solidFill>
                  <a:schemeClr val="tx1"/>
                </a:solidFill>
              </a:rPr>
              <a:t>R² on the 20% test set</a:t>
            </a:r>
            <a:endParaRPr lang="en-US" sz="1300" dirty="0"/>
          </a:p>
        </p:txBody>
      </p:sp>
      <p:sp>
        <p:nvSpPr>
          <p:cNvPr id="25" name="Result pill 3"/>
          <p:cNvSpPr/>
          <p:nvPr/>
        </p:nvSpPr>
        <p:spPr>
          <a:xfrm>
            <a:off x="9601200" y="3566160"/>
            <a:ext cx="1901952" cy="493776"/>
          </a:xfrm>
          <a:prstGeom prst="roundRect">
            <a:avLst>
              <a:gd name="adj" fmla="val 50000"/>
            </a:avLst>
          </a:prstGeom>
          <a:solidFill>
            <a:schemeClr val="accent1"/>
          </a:solidFill>
          <a:ln/>
        </p:spPr>
      </p:sp>
      <p:sp>
        <p:nvSpPr>
          <p:cNvPr id="26" name="Result text 3"/>
          <p:cNvSpPr txBox="1"/>
          <p:nvPr/>
        </p:nvSpPr>
        <p:spPr>
          <a:xfrm>
            <a:off x="9601200" y="3566160"/>
            <a:ext cx="1901952" cy="493776"/>
          </a:xfrm>
          <a:prstGeom prst="rect">
            <a:avLst/>
          </a:prstGeom>
          <a:noFill/>
          <a:ln/>
        </p:spPr>
        <p:txBody>
          <a:bodyPr wrap="square" lIns="0" tIns="0" rIns="0" bIns="0" rtlCol="0" anchor="ctr"/>
          <a:lstStyle/>
          <a:p>
            <a:pPr algn="ctr" indent="0" marL="0">
              <a:buNone/>
            </a:pPr>
            <a:r>
              <a:rPr lang="en-US" sz="1400" b="1" dirty="0">
                <a:solidFill>
                  <a:schemeClr val="bg1"/>
                </a:solidFill>
              </a:rPr>
              <a:t>R² 0.99 / 0.98</a:t>
            </a:r>
            <a:endParaRPr lang="en-US" sz="1400" dirty="0"/>
          </a:p>
        </p:txBody>
      </p:sp>
      <p:sp>
        <p:nvSpPr>
          <p:cNvPr id="27" name="Objective row 4"/>
          <p:cNvSpPr/>
          <p:nvPr/>
        </p:nvSpPr>
        <p:spPr>
          <a:xfrm>
            <a:off x="548640" y="4315968"/>
            <a:ext cx="11091672" cy="822960"/>
          </a:xfrm>
          <a:prstGeom prst="roundRect">
            <a:avLst>
              <a:gd name="adj" fmla="val 8889"/>
            </a:avLst>
          </a:prstGeom>
          <a:solidFill>
            <a:schemeClr val="bg2"/>
          </a:solidFill>
          <a:ln/>
        </p:spPr>
      </p:sp>
      <p:sp>
        <p:nvSpPr>
          <p:cNvPr id="28" name="Objective num bg 4"/>
          <p:cNvSpPr/>
          <p:nvPr/>
        </p:nvSpPr>
        <p:spPr>
          <a:xfrm>
            <a:off x="713232" y="4471416"/>
            <a:ext cx="512064" cy="512064"/>
          </a:xfrm>
          <a:prstGeom prst="ellipse">
            <a:avLst/>
          </a:prstGeom>
          <a:solidFill>
            <a:schemeClr val="accent1"/>
          </a:solidFill>
          <a:ln/>
        </p:spPr>
      </p:sp>
      <p:sp>
        <p:nvSpPr>
          <p:cNvPr id="29" name="Objective num 4"/>
          <p:cNvSpPr txBox="1"/>
          <p:nvPr/>
        </p:nvSpPr>
        <p:spPr>
          <a:xfrm>
            <a:off x="713232" y="447141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30" name="Objective text 4"/>
          <p:cNvSpPr txBox="1"/>
          <p:nvPr/>
        </p:nvSpPr>
        <p:spPr>
          <a:xfrm>
            <a:off x="1325880" y="4315968"/>
            <a:ext cx="5760720" cy="822960"/>
          </a:xfrm>
          <a:prstGeom prst="rect">
            <a:avLst/>
          </a:prstGeom>
          <a:noFill/>
          <a:ln/>
        </p:spPr>
        <p:txBody>
          <a:bodyPr wrap="square" lIns="0" tIns="0" rIns="0" bIns="0" rtlCol="0" anchor="ctr"/>
          <a:lstStyle/>
          <a:p>
            <a:pPr indent="0" marL="0">
              <a:buNone/>
            </a:pPr>
            <a:r>
              <a:rPr lang="en-US" sz="1600" b="1" dirty="0">
                <a:solidFill>
                  <a:schemeClr val="tx2"/>
                </a:solidFill>
              </a:rPr>
              <a:t>Synchronize release with crop demand</a:t>
            </a:r>
            <a:endParaRPr lang="en-US" sz="1600" dirty="0"/>
          </a:p>
          <a:p>
            <a:pPr indent="0" marL="0">
              <a:buNone/>
            </a:pPr>
            <a:r>
              <a:rPr lang="en-US" sz="1300" dirty="0">
                <a:solidFill>
                  <a:schemeClr val="tx1"/>
                </a:solidFill>
              </a:rPr>
              <a:t>outperform the static 25 °C manufacturer rating</a:t>
            </a:r>
            <a:endParaRPr lang="en-US" sz="1600" dirty="0"/>
          </a:p>
        </p:txBody>
      </p:sp>
      <p:sp>
        <p:nvSpPr>
          <p:cNvPr id="31" name="Objective measure 4"/>
          <p:cNvSpPr txBox="1"/>
          <p:nvPr/>
        </p:nvSpPr>
        <p:spPr>
          <a:xfrm>
            <a:off x="7269480" y="4315968"/>
            <a:ext cx="2240280" cy="822960"/>
          </a:xfrm>
          <a:prstGeom prst="rect">
            <a:avLst/>
          </a:prstGeom>
          <a:noFill/>
          <a:ln/>
        </p:spPr>
        <p:txBody>
          <a:bodyPr wrap="square" lIns="0" tIns="0" rIns="0" bIns="0" rtlCol="0" anchor="ctr"/>
          <a:lstStyle/>
          <a:p>
            <a:pPr indent="0" marL="0">
              <a:buNone/>
            </a:pPr>
            <a:r>
              <a:rPr lang="en-US" sz="1300" dirty="0">
                <a:solidFill>
                  <a:schemeClr val="tx1"/>
                </a:solidFill>
              </a:rPr>
              <a:t>Coated-urea timing error (MAE)</a:t>
            </a:r>
            <a:endParaRPr lang="en-US" sz="1300" dirty="0"/>
          </a:p>
        </p:txBody>
      </p:sp>
      <p:sp>
        <p:nvSpPr>
          <p:cNvPr id="32" name="Result pill 4"/>
          <p:cNvSpPr/>
          <p:nvPr/>
        </p:nvSpPr>
        <p:spPr>
          <a:xfrm>
            <a:off x="9601200" y="4480560"/>
            <a:ext cx="1901952" cy="493776"/>
          </a:xfrm>
          <a:prstGeom prst="roundRect">
            <a:avLst>
              <a:gd name="adj" fmla="val 50000"/>
            </a:avLst>
          </a:prstGeom>
          <a:solidFill>
            <a:schemeClr val="accent1"/>
          </a:solidFill>
          <a:ln/>
        </p:spPr>
      </p:sp>
      <p:sp>
        <p:nvSpPr>
          <p:cNvPr id="33" name="Result text 4"/>
          <p:cNvSpPr txBox="1"/>
          <p:nvPr/>
        </p:nvSpPr>
        <p:spPr>
          <a:xfrm>
            <a:off x="9601200" y="4480560"/>
            <a:ext cx="1901952" cy="493776"/>
          </a:xfrm>
          <a:prstGeom prst="rect">
            <a:avLst/>
          </a:prstGeom>
          <a:noFill/>
          <a:ln/>
        </p:spPr>
        <p:txBody>
          <a:bodyPr wrap="square" lIns="0" tIns="0" rIns="0" bIns="0" rtlCol="0" anchor="ctr"/>
          <a:lstStyle/>
          <a:p>
            <a:pPr algn="ctr" indent="0" marL="0">
              <a:buNone/>
            </a:pPr>
            <a:r>
              <a:rPr lang="en-US" sz="1400" b="1" dirty="0">
                <a:solidFill>
                  <a:schemeClr val="bg1"/>
                </a:solidFill>
              </a:rPr>
              <a:t>22.4 → 4.0 days</a:t>
            </a:r>
            <a:endParaRPr lang="en-US" sz="1400" dirty="0"/>
          </a:p>
        </p:txBody>
      </p:sp>
      <p:sp>
        <p:nvSpPr>
          <p:cNvPr id="34" name="Objective row 5"/>
          <p:cNvSpPr/>
          <p:nvPr/>
        </p:nvSpPr>
        <p:spPr>
          <a:xfrm>
            <a:off x="548640" y="5230368"/>
            <a:ext cx="11091672" cy="822960"/>
          </a:xfrm>
          <a:prstGeom prst="roundRect">
            <a:avLst>
              <a:gd name="adj" fmla="val 8889"/>
            </a:avLst>
          </a:prstGeom>
          <a:solidFill>
            <a:schemeClr val="bg2"/>
          </a:solidFill>
          <a:ln/>
        </p:spPr>
      </p:sp>
      <p:sp>
        <p:nvSpPr>
          <p:cNvPr id="35" name="Objective num bg 5"/>
          <p:cNvSpPr/>
          <p:nvPr/>
        </p:nvSpPr>
        <p:spPr>
          <a:xfrm>
            <a:off x="713232" y="5385816"/>
            <a:ext cx="512064" cy="512064"/>
          </a:xfrm>
          <a:prstGeom prst="ellipse">
            <a:avLst/>
          </a:prstGeom>
          <a:solidFill>
            <a:schemeClr val="accent1"/>
          </a:solidFill>
          <a:ln/>
        </p:spPr>
      </p:sp>
      <p:sp>
        <p:nvSpPr>
          <p:cNvPr id="36" name="Objective num 5"/>
          <p:cNvSpPr txBox="1"/>
          <p:nvPr/>
        </p:nvSpPr>
        <p:spPr>
          <a:xfrm>
            <a:off x="713232" y="5385816"/>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37" name="Objective text 5"/>
          <p:cNvSpPr txBox="1"/>
          <p:nvPr/>
        </p:nvSpPr>
        <p:spPr>
          <a:xfrm>
            <a:off x="1325880" y="5230368"/>
            <a:ext cx="5760720" cy="822960"/>
          </a:xfrm>
          <a:prstGeom prst="rect">
            <a:avLst/>
          </a:prstGeom>
          <a:noFill/>
          <a:ln/>
        </p:spPr>
        <p:txBody>
          <a:bodyPr wrap="square" lIns="0" tIns="0" rIns="0" bIns="0" rtlCol="0" anchor="ctr"/>
          <a:lstStyle/>
          <a:p>
            <a:pPr indent="0" marL="0">
              <a:buNone/>
            </a:pPr>
            <a:r>
              <a:rPr lang="en-US" sz="1600" b="1" dirty="0">
                <a:solidFill>
                  <a:schemeClr val="tx2"/>
                </a:solidFill>
              </a:rPr>
              <a:t>Deliver a usable tool</a:t>
            </a:r>
            <a:endParaRPr lang="en-US" sz="1600" dirty="0"/>
          </a:p>
          <a:p>
            <a:pPr indent="0" marL="0">
              <a:buNone/>
            </a:pPr>
            <a:r>
              <a:rPr lang="en-US" sz="1300" dirty="0">
                <a:solidFill>
                  <a:schemeClr val="tx1"/>
                </a:solidFill>
              </a:rPr>
              <a:t>command-line predictor and notebook with input checks</a:t>
            </a:r>
            <a:endParaRPr lang="en-US" sz="1600" dirty="0"/>
          </a:p>
        </p:txBody>
      </p:sp>
      <p:sp>
        <p:nvSpPr>
          <p:cNvPr id="38" name="Objective measure 5"/>
          <p:cNvSpPr txBox="1"/>
          <p:nvPr/>
        </p:nvSpPr>
        <p:spPr>
          <a:xfrm>
            <a:off x="7269480" y="5230368"/>
            <a:ext cx="2240280" cy="822960"/>
          </a:xfrm>
          <a:prstGeom prst="rect">
            <a:avLst/>
          </a:prstGeom>
          <a:noFill/>
          <a:ln/>
        </p:spPr>
        <p:txBody>
          <a:bodyPr wrap="square" lIns="0" tIns="0" rIns="0" bIns="0" rtlCol="0" anchor="ctr"/>
          <a:lstStyle/>
          <a:p>
            <a:pPr indent="0" marL="0">
              <a:buNone/>
            </a:pPr>
            <a:r>
              <a:rPr lang="en-US" sz="1300" dirty="0">
                <a:solidFill>
                  <a:schemeClr val="tx1"/>
                </a:solidFill>
              </a:rPr>
              <a:t>Automated tests</a:t>
            </a:r>
            <a:endParaRPr lang="en-US" sz="1300" dirty="0"/>
          </a:p>
        </p:txBody>
      </p:sp>
      <p:sp>
        <p:nvSpPr>
          <p:cNvPr id="39" name="Result pill 5"/>
          <p:cNvSpPr/>
          <p:nvPr/>
        </p:nvSpPr>
        <p:spPr>
          <a:xfrm>
            <a:off x="9601200" y="5394960"/>
            <a:ext cx="1901952" cy="493776"/>
          </a:xfrm>
          <a:prstGeom prst="roundRect">
            <a:avLst>
              <a:gd name="adj" fmla="val 50000"/>
            </a:avLst>
          </a:prstGeom>
          <a:solidFill>
            <a:schemeClr val="accent1"/>
          </a:solidFill>
          <a:ln/>
        </p:spPr>
      </p:sp>
      <p:sp>
        <p:nvSpPr>
          <p:cNvPr id="40" name="Result text 5"/>
          <p:cNvSpPr txBox="1"/>
          <p:nvPr/>
        </p:nvSpPr>
        <p:spPr>
          <a:xfrm>
            <a:off x="9601200" y="5394960"/>
            <a:ext cx="1901952" cy="493776"/>
          </a:xfrm>
          <a:prstGeom prst="rect">
            <a:avLst/>
          </a:prstGeom>
          <a:noFill/>
          <a:ln/>
        </p:spPr>
        <p:txBody>
          <a:bodyPr wrap="square" lIns="0" tIns="0" rIns="0" bIns="0" rtlCol="0" anchor="ctr"/>
          <a:lstStyle/>
          <a:p>
            <a:pPr algn="ctr" indent="0" marL="0">
              <a:buNone/>
            </a:pPr>
            <a:r>
              <a:rPr lang="en-US" sz="1400" b="1" dirty="0">
                <a:solidFill>
                  <a:schemeClr val="bg1"/>
                </a:solidFill>
              </a:rPr>
              <a:t>13 / 13 passing</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Proposed Solution</a:t>
            </a:r>
            <a:endParaRPr lang="en-US" sz="3400" dirty="0"/>
          </a:p>
        </p:txBody>
      </p:sp>
      <p:sp>
        <p:nvSpPr>
          <p:cNvPr id="3" name="Inputs header"/>
          <p:cNvSpPr txBox="1"/>
          <p:nvPr/>
        </p:nvSpPr>
        <p:spPr>
          <a:xfrm>
            <a:off x="548640" y="1280160"/>
            <a:ext cx="256032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FIELD &amp; FERTILIZER INPUTS</a:t>
            </a:r>
            <a:endParaRPr lang="en-US" sz="1100" dirty="0"/>
          </a:p>
        </p:txBody>
      </p:sp>
      <p:sp>
        <p:nvSpPr>
          <p:cNvPr id="4" name="Input chip 1"/>
          <p:cNvSpPr/>
          <p:nvPr/>
        </p:nvSpPr>
        <p:spPr>
          <a:xfrm>
            <a:off x="548640" y="1645920"/>
            <a:ext cx="2377440" cy="493776"/>
          </a:xfrm>
          <a:prstGeom prst="roundRect">
            <a:avLst>
              <a:gd name="adj" fmla="val 14815"/>
            </a:avLst>
          </a:prstGeom>
          <a:solidFill>
            <a:schemeClr val="bg2"/>
          </a:solidFill>
          <a:ln w="12700">
            <a:solidFill>
              <a:schemeClr val="accent2"/>
            </a:solidFill>
            <a:prstDash val="solid"/>
          </a:ln>
        </p:spPr>
      </p:sp>
      <p:pic>
        <p:nvPicPr>
          <p:cNvPr id="5" name="Input icon 1" descr="preencoded.png">    </p:cNvPr>
          <p:cNvPicPr>
            <a:picLocks noChangeAspect="1"/>
          </p:cNvPicPr>
          <p:nvPr/>
        </p:nvPicPr>
        <p:blipFill>
          <a:blip r:embed="rId1"/>
          <a:stretch>
            <a:fillRect/>
          </a:stretch>
        </p:blipFill>
        <p:spPr>
          <a:xfrm>
            <a:off x="685800" y="1755648"/>
            <a:ext cx="274320" cy="274320"/>
          </a:xfrm>
          <a:prstGeom prst="rect">
            <a:avLst/>
          </a:prstGeom>
        </p:spPr>
      </p:pic>
      <p:sp>
        <p:nvSpPr>
          <p:cNvPr id="6" name="Input label 1"/>
          <p:cNvSpPr txBox="1"/>
          <p:nvPr/>
        </p:nvSpPr>
        <p:spPr>
          <a:xfrm>
            <a:off x="1051560" y="1645920"/>
            <a:ext cx="1828800" cy="493776"/>
          </a:xfrm>
          <a:prstGeom prst="rect">
            <a:avLst/>
          </a:prstGeom>
          <a:noFill/>
          <a:ln/>
        </p:spPr>
        <p:txBody>
          <a:bodyPr wrap="square" lIns="0" tIns="0" rIns="0" bIns="0" rtlCol="0" anchor="ctr"/>
          <a:lstStyle/>
          <a:p>
            <a:pPr indent="0" marL="0">
              <a:buNone/>
            </a:pPr>
            <a:r>
              <a:rPr lang="en-US" sz="1400" dirty="0">
                <a:solidFill>
                  <a:schemeClr val="tx1"/>
                </a:solidFill>
              </a:rPr>
              <a:t>Soil temperature</a:t>
            </a:r>
            <a:endParaRPr lang="en-US" sz="1400" dirty="0"/>
          </a:p>
        </p:txBody>
      </p:sp>
      <p:sp>
        <p:nvSpPr>
          <p:cNvPr id="7" name="Input chip 2"/>
          <p:cNvSpPr/>
          <p:nvPr/>
        </p:nvSpPr>
        <p:spPr>
          <a:xfrm>
            <a:off x="548640" y="2249424"/>
            <a:ext cx="2377440" cy="493776"/>
          </a:xfrm>
          <a:prstGeom prst="roundRect">
            <a:avLst>
              <a:gd name="adj" fmla="val 14815"/>
            </a:avLst>
          </a:prstGeom>
          <a:solidFill>
            <a:schemeClr val="bg2"/>
          </a:solidFill>
          <a:ln w="12700">
            <a:solidFill>
              <a:schemeClr val="accent2"/>
            </a:solidFill>
            <a:prstDash val="solid"/>
          </a:ln>
        </p:spPr>
      </p:sp>
      <p:pic>
        <p:nvPicPr>
          <p:cNvPr id="8" name="Input icon 2" descr="preencoded.png">    </p:cNvPr>
          <p:cNvPicPr>
            <a:picLocks noChangeAspect="1"/>
          </p:cNvPicPr>
          <p:nvPr/>
        </p:nvPicPr>
        <p:blipFill>
          <a:blip r:embed="rId2"/>
          <a:stretch>
            <a:fillRect/>
          </a:stretch>
        </p:blipFill>
        <p:spPr>
          <a:xfrm>
            <a:off x="685800" y="2359152"/>
            <a:ext cx="274320" cy="274320"/>
          </a:xfrm>
          <a:prstGeom prst="rect">
            <a:avLst/>
          </a:prstGeom>
        </p:spPr>
      </p:pic>
      <p:sp>
        <p:nvSpPr>
          <p:cNvPr id="9" name="Input label 2"/>
          <p:cNvSpPr txBox="1"/>
          <p:nvPr/>
        </p:nvSpPr>
        <p:spPr>
          <a:xfrm>
            <a:off x="1051560" y="2249424"/>
            <a:ext cx="1828800" cy="493776"/>
          </a:xfrm>
          <a:prstGeom prst="rect">
            <a:avLst/>
          </a:prstGeom>
          <a:noFill/>
          <a:ln/>
        </p:spPr>
        <p:txBody>
          <a:bodyPr wrap="square" lIns="0" tIns="0" rIns="0" bIns="0" rtlCol="0" anchor="ctr"/>
          <a:lstStyle/>
          <a:p>
            <a:pPr indent="0" marL="0">
              <a:buNone/>
            </a:pPr>
            <a:r>
              <a:rPr lang="en-US" sz="1400" dirty="0">
                <a:solidFill>
                  <a:schemeClr val="tx1"/>
                </a:solidFill>
              </a:rPr>
              <a:t>Soil moisture</a:t>
            </a:r>
            <a:endParaRPr lang="en-US" sz="1400" dirty="0"/>
          </a:p>
        </p:txBody>
      </p:sp>
      <p:sp>
        <p:nvSpPr>
          <p:cNvPr id="10" name="Input chip 3"/>
          <p:cNvSpPr/>
          <p:nvPr/>
        </p:nvSpPr>
        <p:spPr>
          <a:xfrm>
            <a:off x="548640" y="2852928"/>
            <a:ext cx="2377440" cy="493776"/>
          </a:xfrm>
          <a:prstGeom prst="roundRect">
            <a:avLst>
              <a:gd name="adj" fmla="val 14815"/>
            </a:avLst>
          </a:prstGeom>
          <a:solidFill>
            <a:schemeClr val="bg2"/>
          </a:solidFill>
          <a:ln w="12700">
            <a:solidFill>
              <a:schemeClr val="accent2"/>
            </a:solidFill>
            <a:prstDash val="solid"/>
          </a:ln>
        </p:spPr>
      </p:sp>
      <p:pic>
        <p:nvPicPr>
          <p:cNvPr id="11" name="Input icon 3" descr="preencoded.png">    </p:cNvPr>
          <p:cNvPicPr>
            <a:picLocks noChangeAspect="1"/>
          </p:cNvPicPr>
          <p:nvPr/>
        </p:nvPicPr>
        <p:blipFill>
          <a:blip r:embed="rId3"/>
          <a:stretch>
            <a:fillRect/>
          </a:stretch>
        </p:blipFill>
        <p:spPr>
          <a:xfrm>
            <a:off x="685800" y="2962656"/>
            <a:ext cx="274320" cy="274320"/>
          </a:xfrm>
          <a:prstGeom prst="rect">
            <a:avLst/>
          </a:prstGeom>
        </p:spPr>
      </p:pic>
      <p:sp>
        <p:nvSpPr>
          <p:cNvPr id="12" name="Input label 3"/>
          <p:cNvSpPr txBox="1"/>
          <p:nvPr/>
        </p:nvSpPr>
        <p:spPr>
          <a:xfrm>
            <a:off x="1051560" y="2852928"/>
            <a:ext cx="1828800" cy="493776"/>
          </a:xfrm>
          <a:prstGeom prst="rect">
            <a:avLst/>
          </a:prstGeom>
          <a:noFill/>
          <a:ln/>
        </p:spPr>
        <p:txBody>
          <a:bodyPr wrap="square" lIns="0" tIns="0" rIns="0" bIns="0" rtlCol="0" anchor="ctr"/>
          <a:lstStyle/>
          <a:p>
            <a:pPr indent="0" marL="0">
              <a:buNone/>
            </a:pPr>
            <a:r>
              <a:rPr lang="en-US" sz="1400" dirty="0">
                <a:solidFill>
                  <a:schemeClr val="tx1"/>
                </a:solidFill>
              </a:rPr>
              <a:t>Rainfall</a:t>
            </a:r>
            <a:endParaRPr lang="en-US" sz="1400" dirty="0"/>
          </a:p>
        </p:txBody>
      </p:sp>
      <p:sp>
        <p:nvSpPr>
          <p:cNvPr id="13" name="Input chip 4"/>
          <p:cNvSpPr/>
          <p:nvPr/>
        </p:nvSpPr>
        <p:spPr>
          <a:xfrm>
            <a:off x="548640" y="3456432"/>
            <a:ext cx="2377440" cy="493776"/>
          </a:xfrm>
          <a:prstGeom prst="roundRect">
            <a:avLst>
              <a:gd name="adj" fmla="val 14815"/>
            </a:avLst>
          </a:prstGeom>
          <a:solidFill>
            <a:schemeClr val="bg2"/>
          </a:solidFill>
          <a:ln w="12700">
            <a:solidFill>
              <a:schemeClr val="accent2"/>
            </a:solidFill>
            <a:prstDash val="solid"/>
          </a:ln>
        </p:spPr>
      </p:sp>
      <p:pic>
        <p:nvPicPr>
          <p:cNvPr id="14" name="Input icon 4" descr="preencoded.png">    </p:cNvPr>
          <p:cNvPicPr>
            <a:picLocks noChangeAspect="1"/>
          </p:cNvPicPr>
          <p:nvPr/>
        </p:nvPicPr>
        <p:blipFill>
          <a:blip r:embed="rId4"/>
          <a:stretch>
            <a:fillRect/>
          </a:stretch>
        </p:blipFill>
        <p:spPr>
          <a:xfrm>
            <a:off x="685800" y="3566160"/>
            <a:ext cx="274320" cy="274320"/>
          </a:xfrm>
          <a:prstGeom prst="rect">
            <a:avLst/>
          </a:prstGeom>
        </p:spPr>
      </p:pic>
      <p:sp>
        <p:nvSpPr>
          <p:cNvPr id="15" name="Input label 4"/>
          <p:cNvSpPr txBox="1"/>
          <p:nvPr/>
        </p:nvSpPr>
        <p:spPr>
          <a:xfrm>
            <a:off x="1051560" y="3456432"/>
            <a:ext cx="1828800" cy="493776"/>
          </a:xfrm>
          <a:prstGeom prst="rect">
            <a:avLst/>
          </a:prstGeom>
          <a:noFill/>
          <a:ln/>
        </p:spPr>
        <p:txBody>
          <a:bodyPr wrap="square" lIns="0" tIns="0" rIns="0" bIns="0" rtlCol="0" anchor="ctr"/>
          <a:lstStyle/>
          <a:p>
            <a:pPr indent="0" marL="0">
              <a:buNone/>
            </a:pPr>
            <a:r>
              <a:rPr lang="en-US" sz="1400" dirty="0">
                <a:solidFill>
                  <a:schemeClr val="tx1"/>
                </a:solidFill>
              </a:rPr>
              <a:t>Soil pH</a:t>
            </a:r>
            <a:endParaRPr lang="en-US" sz="1400" dirty="0"/>
          </a:p>
        </p:txBody>
      </p:sp>
      <p:sp>
        <p:nvSpPr>
          <p:cNvPr id="16" name="Input chip 5"/>
          <p:cNvSpPr/>
          <p:nvPr/>
        </p:nvSpPr>
        <p:spPr>
          <a:xfrm>
            <a:off x="548640" y="4059936"/>
            <a:ext cx="2377440" cy="493776"/>
          </a:xfrm>
          <a:prstGeom prst="roundRect">
            <a:avLst>
              <a:gd name="adj" fmla="val 14815"/>
            </a:avLst>
          </a:prstGeom>
          <a:solidFill>
            <a:schemeClr val="bg2"/>
          </a:solidFill>
          <a:ln w="12700">
            <a:solidFill>
              <a:schemeClr val="accent2"/>
            </a:solidFill>
            <a:prstDash val="solid"/>
          </a:ln>
        </p:spPr>
      </p:sp>
      <p:pic>
        <p:nvPicPr>
          <p:cNvPr id="17" name="Input icon 5" descr="preencoded.png">    </p:cNvPr>
          <p:cNvPicPr>
            <a:picLocks noChangeAspect="1"/>
          </p:cNvPicPr>
          <p:nvPr/>
        </p:nvPicPr>
        <p:blipFill>
          <a:blip r:embed="rId5"/>
          <a:stretch>
            <a:fillRect/>
          </a:stretch>
        </p:blipFill>
        <p:spPr>
          <a:xfrm>
            <a:off x="685800" y="4169664"/>
            <a:ext cx="274320" cy="274320"/>
          </a:xfrm>
          <a:prstGeom prst="rect">
            <a:avLst/>
          </a:prstGeom>
        </p:spPr>
      </p:pic>
      <p:sp>
        <p:nvSpPr>
          <p:cNvPr id="18" name="Input label 5"/>
          <p:cNvSpPr txBox="1"/>
          <p:nvPr/>
        </p:nvSpPr>
        <p:spPr>
          <a:xfrm>
            <a:off x="1051560" y="4059936"/>
            <a:ext cx="1828800" cy="493776"/>
          </a:xfrm>
          <a:prstGeom prst="rect">
            <a:avLst/>
          </a:prstGeom>
          <a:noFill/>
          <a:ln/>
        </p:spPr>
        <p:txBody>
          <a:bodyPr wrap="square" lIns="0" tIns="0" rIns="0" bIns="0" rtlCol="0" anchor="ctr"/>
          <a:lstStyle/>
          <a:p>
            <a:pPr indent="0" marL="0">
              <a:buNone/>
            </a:pPr>
            <a:r>
              <a:rPr lang="en-US" sz="1400" dirty="0">
                <a:solidFill>
                  <a:schemeClr val="tx1"/>
                </a:solidFill>
              </a:rPr>
              <a:t>Coating thickness</a:t>
            </a:r>
            <a:endParaRPr lang="en-US" sz="1400" dirty="0"/>
          </a:p>
        </p:txBody>
      </p:sp>
      <p:sp>
        <p:nvSpPr>
          <p:cNvPr id="19" name="Arrow inputs to M1"/>
          <p:cNvSpPr/>
          <p:nvPr/>
        </p:nvSpPr>
        <p:spPr>
          <a:xfrm>
            <a:off x="3017520" y="2331720"/>
            <a:ext cx="457200" cy="365760"/>
          </a:xfrm>
          <a:prstGeom prst="rightArrow">
            <a:avLst/>
          </a:prstGeom>
          <a:solidFill>
            <a:schemeClr val="accent3"/>
          </a:solidFill>
          <a:ln/>
        </p:spPr>
      </p:sp>
      <p:sp>
        <p:nvSpPr>
          <p:cNvPr id="20" name="Module 1 box"/>
          <p:cNvSpPr/>
          <p:nvPr/>
        </p:nvSpPr>
        <p:spPr>
          <a:xfrm>
            <a:off x="3566160" y="1645920"/>
            <a:ext cx="3108960" cy="1783080"/>
          </a:xfrm>
          <a:prstGeom prst="roundRect">
            <a:avLst>
              <a:gd name="adj" fmla="val 5128"/>
            </a:avLst>
          </a:prstGeom>
          <a:solidFill>
            <a:schemeClr val="accent1"/>
          </a:solidFill>
          <a:ln/>
        </p:spPr>
      </p:sp>
      <p:sp>
        <p:nvSpPr>
          <p:cNvPr id="21" name="Module 1 text"/>
          <p:cNvSpPr txBox="1"/>
          <p:nvPr/>
        </p:nvSpPr>
        <p:spPr>
          <a:xfrm>
            <a:off x="3794760" y="1645920"/>
            <a:ext cx="2651760" cy="1783080"/>
          </a:xfrm>
          <a:prstGeom prst="rect">
            <a:avLst/>
          </a:prstGeom>
          <a:noFill/>
          <a:ln/>
        </p:spPr>
        <p:txBody>
          <a:bodyPr wrap="square" lIns="0" tIns="0" rIns="0" bIns="0" rtlCol="0" anchor="ctr"/>
          <a:lstStyle/>
          <a:p>
            <a:pPr indent="0" marL="0">
              <a:spcAft>
                <a:spcPts val="400"/>
              </a:spcAft>
              <a:buNone/>
            </a:pPr>
            <a:r>
              <a:rPr lang="en-US" sz="1100" b="1" spc="200" kern="0" dirty="0">
                <a:solidFill>
                  <a:schemeClr val="accent2"/>
                </a:solidFill>
              </a:rPr>
              <a:t>MODULE 1</a:t>
            </a:r>
            <a:endParaRPr lang="en-US" sz="1100" dirty="0"/>
          </a:p>
          <a:p>
            <a:pPr indent="0" marL="0">
              <a:spcAft>
                <a:spcPts val="400"/>
              </a:spcAft>
              <a:buNone/>
            </a:pPr>
            <a:r>
              <a:rPr lang="en-US" sz="2000" b="1" dirty="0">
                <a:solidFill>
                  <a:schemeClr val="bg1"/>
                </a:solidFill>
                <a:latin typeface="Cambria" pitchFamily="34" charset="0"/>
                <a:ea typeface="Cambria" pitchFamily="34" charset="-122"/>
                <a:cs typeface="Cambria" pitchFamily="34" charset="-120"/>
              </a:rPr>
              <a:t>Nutrient Release Prediction</a:t>
            </a:r>
            <a:endParaRPr lang="en-US" sz="1100" dirty="0"/>
          </a:p>
          <a:p>
            <a:pPr indent="0" marL="0">
              <a:spcAft>
                <a:spcPts val="400"/>
              </a:spcAft>
              <a:buNone/>
            </a:pPr>
            <a:r>
              <a:rPr lang="en-US" sz="1300" i="1" dirty="0">
                <a:solidFill>
                  <a:schemeClr val="bg2"/>
                </a:solidFill>
              </a:rPr>
              <a:t>Polynomial LR · Decision Tree · Random Forest</a:t>
            </a:r>
            <a:endParaRPr lang="en-US" sz="1100" dirty="0"/>
          </a:p>
        </p:txBody>
      </p:sp>
      <p:sp>
        <p:nvSpPr>
          <p:cNvPr id="22" name="Arrow M1 to rate"/>
          <p:cNvSpPr/>
          <p:nvPr/>
        </p:nvSpPr>
        <p:spPr>
          <a:xfrm>
            <a:off x="6766560" y="2331720"/>
            <a:ext cx="457200" cy="365760"/>
          </a:xfrm>
          <a:prstGeom prst="rightArrow">
            <a:avLst/>
          </a:prstGeom>
          <a:solidFill>
            <a:schemeClr val="accent3"/>
          </a:solidFill>
          <a:ln/>
        </p:spPr>
      </p:sp>
      <p:sp>
        <p:nvSpPr>
          <p:cNvPr id="23" name="Rate box"/>
          <p:cNvSpPr/>
          <p:nvPr/>
        </p:nvSpPr>
        <p:spPr>
          <a:xfrm>
            <a:off x="7315200" y="1874520"/>
            <a:ext cx="2194560" cy="1280160"/>
          </a:xfrm>
          <a:prstGeom prst="roundRect">
            <a:avLst>
              <a:gd name="adj" fmla="val 7143"/>
            </a:avLst>
          </a:prstGeom>
          <a:solidFill>
            <a:schemeClr val="accent2"/>
          </a:solidFill>
          <a:ln/>
        </p:spPr>
      </p:sp>
      <p:sp>
        <p:nvSpPr>
          <p:cNvPr id="24" name="Rate text"/>
          <p:cNvSpPr txBox="1"/>
          <p:nvPr/>
        </p:nvSpPr>
        <p:spPr>
          <a:xfrm>
            <a:off x="7452360" y="1874520"/>
            <a:ext cx="1920240" cy="1280160"/>
          </a:xfrm>
          <a:prstGeom prst="rect">
            <a:avLst/>
          </a:prstGeom>
          <a:noFill/>
          <a:ln/>
        </p:spPr>
        <p:txBody>
          <a:bodyPr wrap="square" lIns="0" tIns="0" rIns="0" bIns="0" rtlCol="0" anchor="ctr"/>
          <a:lstStyle/>
          <a:p>
            <a:pPr algn="ctr" indent="0" marL="0">
              <a:buNone/>
            </a:pPr>
            <a:r>
              <a:rPr lang="en-US" sz="1500" b="1" dirty="0">
                <a:solidFill>
                  <a:schemeClr val="tx2"/>
                </a:solidFill>
              </a:rPr>
              <a:t>Predicted release rate</a:t>
            </a:r>
            <a:endParaRPr lang="en-US" sz="1500" dirty="0"/>
          </a:p>
          <a:p>
            <a:pPr algn="ctr" indent="0" marL="0">
              <a:buNone/>
            </a:pPr>
            <a:r>
              <a:rPr lang="en-US" sz="1300" dirty="0">
                <a:solidFill>
                  <a:schemeClr val="tx2"/>
                </a:solidFill>
              </a:rPr>
              <a:t>+ synchrony index</a:t>
            </a:r>
            <a:endParaRPr lang="en-US" sz="1500" dirty="0"/>
          </a:p>
        </p:txBody>
      </p:sp>
      <p:sp>
        <p:nvSpPr>
          <p:cNvPr id="25" name="Arrow rate to M2"/>
          <p:cNvSpPr/>
          <p:nvPr/>
        </p:nvSpPr>
        <p:spPr>
          <a:xfrm rot="5400000">
            <a:off x="8183880" y="3291840"/>
            <a:ext cx="457200" cy="365760"/>
          </a:xfrm>
          <a:prstGeom prst="rightArrow">
            <a:avLst/>
          </a:prstGeom>
          <a:solidFill>
            <a:schemeClr val="accent3"/>
          </a:solidFill>
          <a:ln/>
        </p:spPr>
      </p:sp>
      <p:sp>
        <p:nvSpPr>
          <p:cNvPr id="26" name="Module 2 box"/>
          <p:cNvSpPr/>
          <p:nvPr/>
        </p:nvSpPr>
        <p:spPr>
          <a:xfrm>
            <a:off x="6035040" y="3794760"/>
            <a:ext cx="3657600" cy="1783080"/>
          </a:xfrm>
          <a:prstGeom prst="roundRect">
            <a:avLst>
              <a:gd name="adj" fmla="val 5128"/>
            </a:avLst>
          </a:prstGeom>
          <a:solidFill>
            <a:schemeClr val="accent1"/>
          </a:solidFill>
          <a:ln/>
        </p:spPr>
      </p:sp>
      <p:sp>
        <p:nvSpPr>
          <p:cNvPr id="27" name="Module 2 text"/>
          <p:cNvSpPr txBox="1"/>
          <p:nvPr/>
        </p:nvSpPr>
        <p:spPr>
          <a:xfrm>
            <a:off x="6263640" y="3794760"/>
            <a:ext cx="3200400" cy="1783080"/>
          </a:xfrm>
          <a:prstGeom prst="rect">
            <a:avLst/>
          </a:prstGeom>
          <a:noFill/>
          <a:ln/>
        </p:spPr>
        <p:txBody>
          <a:bodyPr wrap="square" lIns="0" tIns="0" rIns="0" bIns="0" rtlCol="0" anchor="ctr"/>
          <a:lstStyle/>
          <a:p>
            <a:pPr indent="0" marL="0">
              <a:spcAft>
                <a:spcPts val="400"/>
              </a:spcAft>
              <a:buNone/>
            </a:pPr>
            <a:r>
              <a:rPr lang="en-US" sz="1100" b="1" spc="200" kern="0" dirty="0">
                <a:solidFill>
                  <a:schemeClr val="accent2"/>
                </a:solidFill>
              </a:rPr>
              <a:t>MODULE 2</a:t>
            </a:r>
            <a:endParaRPr lang="en-US" sz="1100" dirty="0"/>
          </a:p>
          <a:p>
            <a:pPr indent="0" marL="0">
              <a:spcAft>
                <a:spcPts val="400"/>
              </a:spcAft>
              <a:buNone/>
            </a:pPr>
            <a:r>
              <a:rPr lang="en-US" sz="2000" b="1" dirty="0">
                <a:solidFill>
                  <a:schemeClr val="bg1"/>
                </a:solidFill>
                <a:latin typeface="Cambria" pitchFamily="34" charset="0"/>
                <a:ea typeface="Cambria" pitchFamily="34" charset="-122"/>
                <a:cs typeface="Cambria" pitchFamily="34" charset="-120"/>
              </a:rPr>
              <a:t>Fertilizer Recommendation Engine</a:t>
            </a:r>
            <a:endParaRPr lang="en-US" sz="1100" dirty="0"/>
          </a:p>
          <a:p>
            <a:pPr indent="0" marL="0">
              <a:spcAft>
                <a:spcPts val="400"/>
              </a:spcAft>
              <a:buNone/>
            </a:pPr>
            <a:r>
              <a:rPr lang="en-US" sz="1300" i="1" dirty="0">
                <a:solidFill>
                  <a:schemeClr val="bg2"/>
                </a:solidFill>
              </a:rPr>
              <a:t>XGBoost · step 1: type → step 2: amount &amp; timing</a:t>
            </a:r>
            <a:endParaRPr lang="en-US" sz="1100" dirty="0"/>
          </a:p>
        </p:txBody>
      </p:sp>
      <p:sp>
        <p:nvSpPr>
          <p:cNvPr id="28" name="Crop inputs box"/>
          <p:cNvSpPr/>
          <p:nvPr/>
        </p:nvSpPr>
        <p:spPr>
          <a:xfrm>
            <a:off x="548640" y="4983480"/>
            <a:ext cx="4846320" cy="914400"/>
          </a:xfrm>
          <a:prstGeom prst="roundRect">
            <a:avLst>
              <a:gd name="adj" fmla="val 8000"/>
            </a:avLst>
          </a:prstGeom>
          <a:solidFill>
            <a:schemeClr val="bg2"/>
          </a:solidFill>
          <a:ln w="12700">
            <a:solidFill>
              <a:schemeClr val="accent2"/>
            </a:solidFill>
            <a:prstDash val="solid"/>
          </a:ln>
        </p:spPr>
      </p:sp>
      <p:sp>
        <p:nvSpPr>
          <p:cNvPr id="29" name="Crop inputs text"/>
          <p:cNvSpPr txBox="1"/>
          <p:nvPr/>
        </p:nvSpPr>
        <p:spPr>
          <a:xfrm>
            <a:off x="731520" y="4983480"/>
            <a:ext cx="4572000" cy="914400"/>
          </a:xfrm>
          <a:prstGeom prst="rect">
            <a:avLst/>
          </a:prstGeom>
          <a:noFill/>
          <a:ln/>
        </p:spPr>
        <p:txBody>
          <a:bodyPr wrap="square" lIns="0" tIns="0" rIns="0" bIns="0" rtlCol="0" anchor="ctr"/>
          <a:lstStyle/>
          <a:p>
            <a:pPr indent="0" marL="0">
              <a:buNone/>
            </a:pPr>
            <a:r>
              <a:rPr lang="en-US" sz="1100" b="1" spc="100" kern="0" dirty="0">
                <a:solidFill>
                  <a:schemeClr val="accent5"/>
                </a:solidFill>
              </a:rPr>
              <a:t>CROP INPUTS</a:t>
            </a:r>
            <a:endParaRPr lang="en-US" sz="1100" dirty="0"/>
          </a:p>
          <a:p>
            <a:pPr indent="0" marL="0">
              <a:buNone/>
            </a:pPr>
            <a:r>
              <a:rPr lang="en-US" sz="1400" dirty="0">
                <a:solidFill>
                  <a:schemeClr val="tx1"/>
                </a:solidFill>
              </a:rPr>
              <a:t>Crop type · Growth stage · Initial N-P-K · Soil pH</a:t>
            </a:r>
            <a:endParaRPr lang="en-US" sz="1100" dirty="0"/>
          </a:p>
        </p:txBody>
      </p:sp>
      <p:sp>
        <p:nvSpPr>
          <p:cNvPr id="30" name="Arrow crop to M2"/>
          <p:cNvSpPr/>
          <p:nvPr/>
        </p:nvSpPr>
        <p:spPr>
          <a:xfrm>
            <a:off x="5486400" y="5257800"/>
            <a:ext cx="457200" cy="365760"/>
          </a:xfrm>
          <a:prstGeom prst="rightArrow">
            <a:avLst/>
          </a:prstGeom>
          <a:solidFill>
            <a:schemeClr val="accent3"/>
          </a:solidFill>
          <a:ln/>
        </p:spPr>
      </p:sp>
      <p:sp>
        <p:nvSpPr>
          <p:cNvPr id="31" name="Arrow M2 to outputs"/>
          <p:cNvSpPr/>
          <p:nvPr/>
        </p:nvSpPr>
        <p:spPr>
          <a:xfrm>
            <a:off x="9784080" y="4526280"/>
            <a:ext cx="411480" cy="365760"/>
          </a:xfrm>
          <a:prstGeom prst="rightArrow">
            <a:avLst/>
          </a:prstGeom>
          <a:solidFill>
            <a:schemeClr val="accent3"/>
          </a:solidFill>
          <a:ln/>
        </p:spPr>
      </p:sp>
      <p:sp>
        <p:nvSpPr>
          <p:cNvPr id="32" name="Outputs header"/>
          <p:cNvSpPr txBox="1"/>
          <p:nvPr/>
        </p:nvSpPr>
        <p:spPr>
          <a:xfrm>
            <a:off x="10287000" y="3703320"/>
            <a:ext cx="13716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OUTPUTS</a:t>
            </a:r>
            <a:endParaRPr lang="en-US" sz="1100" dirty="0"/>
          </a:p>
        </p:txBody>
      </p:sp>
      <p:sp>
        <p:nvSpPr>
          <p:cNvPr id="33" name="Output box 1"/>
          <p:cNvSpPr/>
          <p:nvPr/>
        </p:nvSpPr>
        <p:spPr>
          <a:xfrm>
            <a:off x="10287000" y="4041648"/>
            <a:ext cx="1371600" cy="475488"/>
          </a:xfrm>
          <a:prstGeom prst="roundRect">
            <a:avLst>
              <a:gd name="adj" fmla="val 15385"/>
            </a:avLst>
          </a:prstGeom>
          <a:solidFill>
            <a:schemeClr val="bg1"/>
          </a:solidFill>
          <a:ln w="15875">
            <a:solidFill>
              <a:schemeClr val="accent3"/>
            </a:solidFill>
            <a:prstDash val="solid"/>
          </a:ln>
        </p:spPr>
      </p:sp>
      <p:sp>
        <p:nvSpPr>
          <p:cNvPr id="34" name="Output text 1"/>
          <p:cNvSpPr txBox="1"/>
          <p:nvPr/>
        </p:nvSpPr>
        <p:spPr>
          <a:xfrm>
            <a:off x="10287000" y="4041648"/>
            <a:ext cx="1371600" cy="475488"/>
          </a:xfrm>
          <a:prstGeom prst="rect">
            <a:avLst/>
          </a:prstGeom>
          <a:noFill/>
          <a:ln/>
        </p:spPr>
        <p:txBody>
          <a:bodyPr wrap="square" lIns="0" tIns="0" rIns="0" bIns="0" rtlCol="0" anchor="ctr"/>
          <a:lstStyle/>
          <a:p>
            <a:pPr algn="ctr" indent="0" marL="0">
              <a:buNone/>
            </a:pPr>
            <a:r>
              <a:rPr lang="en-US" sz="1300" b="1" dirty="0">
                <a:solidFill>
                  <a:schemeClr val="tx1"/>
                </a:solidFill>
              </a:rPr>
              <a:t>Fertilizer type</a:t>
            </a:r>
            <a:endParaRPr lang="en-US" sz="1300" dirty="0"/>
          </a:p>
        </p:txBody>
      </p:sp>
      <p:sp>
        <p:nvSpPr>
          <p:cNvPr id="35" name="Output box 2"/>
          <p:cNvSpPr/>
          <p:nvPr/>
        </p:nvSpPr>
        <p:spPr>
          <a:xfrm>
            <a:off x="10287000" y="4608576"/>
            <a:ext cx="1371600" cy="475488"/>
          </a:xfrm>
          <a:prstGeom prst="roundRect">
            <a:avLst>
              <a:gd name="adj" fmla="val 15385"/>
            </a:avLst>
          </a:prstGeom>
          <a:solidFill>
            <a:schemeClr val="bg1"/>
          </a:solidFill>
          <a:ln w="15875">
            <a:solidFill>
              <a:schemeClr val="accent3"/>
            </a:solidFill>
            <a:prstDash val="solid"/>
          </a:ln>
        </p:spPr>
      </p:sp>
      <p:sp>
        <p:nvSpPr>
          <p:cNvPr id="36" name="Output text 2"/>
          <p:cNvSpPr txBox="1"/>
          <p:nvPr/>
        </p:nvSpPr>
        <p:spPr>
          <a:xfrm>
            <a:off x="10287000" y="4608576"/>
            <a:ext cx="1371600" cy="475488"/>
          </a:xfrm>
          <a:prstGeom prst="rect">
            <a:avLst/>
          </a:prstGeom>
          <a:noFill/>
          <a:ln/>
        </p:spPr>
        <p:txBody>
          <a:bodyPr wrap="square" lIns="0" tIns="0" rIns="0" bIns="0" rtlCol="0" anchor="ctr"/>
          <a:lstStyle/>
          <a:p>
            <a:pPr algn="ctr" indent="0" marL="0">
              <a:buNone/>
            </a:pPr>
            <a:r>
              <a:rPr lang="en-US" sz="1300" b="1" dirty="0">
                <a:solidFill>
                  <a:schemeClr val="tx1"/>
                </a:solidFill>
              </a:rPr>
              <a:t>Amount (kg/ha)</a:t>
            </a:r>
            <a:endParaRPr lang="en-US" sz="1300" dirty="0"/>
          </a:p>
        </p:txBody>
      </p:sp>
      <p:sp>
        <p:nvSpPr>
          <p:cNvPr id="37" name="Output box 3"/>
          <p:cNvSpPr/>
          <p:nvPr/>
        </p:nvSpPr>
        <p:spPr>
          <a:xfrm>
            <a:off x="10287000" y="5175504"/>
            <a:ext cx="1371600" cy="475488"/>
          </a:xfrm>
          <a:prstGeom prst="roundRect">
            <a:avLst>
              <a:gd name="adj" fmla="val 15385"/>
            </a:avLst>
          </a:prstGeom>
          <a:solidFill>
            <a:schemeClr val="bg1"/>
          </a:solidFill>
          <a:ln w="15875">
            <a:solidFill>
              <a:schemeClr val="accent3"/>
            </a:solidFill>
            <a:prstDash val="solid"/>
          </a:ln>
        </p:spPr>
      </p:sp>
      <p:sp>
        <p:nvSpPr>
          <p:cNvPr id="38" name="Output text 3"/>
          <p:cNvSpPr txBox="1"/>
          <p:nvPr/>
        </p:nvSpPr>
        <p:spPr>
          <a:xfrm>
            <a:off x="10287000" y="5175504"/>
            <a:ext cx="1371600" cy="475488"/>
          </a:xfrm>
          <a:prstGeom prst="rect">
            <a:avLst/>
          </a:prstGeom>
          <a:noFill/>
          <a:ln/>
        </p:spPr>
        <p:txBody>
          <a:bodyPr wrap="square" lIns="0" tIns="0" rIns="0" bIns="0" rtlCol="0" anchor="ctr"/>
          <a:lstStyle/>
          <a:p>
            <a:pPr algn="ctr" indent="0" marL="0">
              <a:buNone/>
            </a:pPr>
            <a:r>
              <a:rPr lang="en-US" sz="1300" b="1" dirty="0">
                <a:solidFill>
                  <a:schemeClr val="tx1"/>
                </a:solidFill>
              </a:rPr>
              <a:t>Timing (days)</a:t>
            </a:r>
            <a:endParaRPr lang="en-US" sz="1300" dirty="0"/>
          </a:p>
        </p:txBody>
      </p:sp>
      <p:sp>
        <p:nvSpPr>
          <p:cNvPr id="39" name="Outcome card"/>
          <p:cNvSpPr/>
          <p:nvPr/>
        </p:nvSpPr>
        <p:spPr>
          <a:xfrm>
            <a:off x="9738360" y="1645920"/>
            <a:ext cx="1920240" cy="1783080"/>
          </a:xfrm>
          <a:prstGeom prst="roundRect">
            <a:avLst>
              <a:gd name="adj" fmla="val 5128"/>
            </a:avLst>
          </a:prstGeom>
          <a:solidFill>
            <a:schemeClr val="bg2"/>
          </a:solidFill>
          <a:ln/>
        </p:spPr>
      </p:sp>
      <p:sp>
        <p:nvSpPr>
          <p:cNvPr id="40" name="Outcome text"/>
          <p:cNvSpPr txBox="1"/>
          <p:nvPr/>
        </p:nvSpPr>
        <p:spPr>
          <a:xfrm>
            <a:off x="9875520" y="1691640"/>
            <a:ext cx="1691640" cy="1691640"/>
          </a:xfrm>
          <a:prstGeom prst="rect">
            <a:avLst/>
          </a:prstGeom>
          <a:noFill/>
          <a:ln/>
        </p:spPr>
        <p:txBody>
          <a:bodyPr wrap="square" lIns="0" tIns="0" rIns="0" bIns="0" rtlCol="0" anchor="ctr"/>
          <a:lstStyle/>
          <a:p>
            <a:pPr indent="0" marL="0">
              <a:spcAft>
                <a:spcPts val="400"/>
              </a:spcAft>
              <a:buNone/>
            </a:pPr>
            <a:r>
              <a:rPr lang="en-US" sz="1400" b="1" dirty="0">
                <a:solidFill>
                  <a:schemeClr val="accent1"/>
                </a:solidFill>
              </a:rPr>
              <a:t>Practical outcome</a:t>
            </a:r>
            <a:endParaRPr lang="en-US" sz="1400" dirty="0"/>
          </a:p>
          <a:p>
            <a:pPr indent="0" marL="0">
              <a:spcAft>
                <a:spcPts val="400"/>
              </a:spcAft>
              <a:buNone/>
            </a:pPr>
            <a:r>
              <a:rPr lang="en-US" sz="1300" dirty="0">
                <a:solidFill>
                  <a:schemeClr val="tx1"/>
                </a:solidFill>
              </a:rPr>
              <a:t>Right product, dose and date for each field, so nitrogen arrives when the crop needs it</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Dataset</a:t>
            </a:r>
            <a:endParaRPr lang="en-US" sz="3400" dirty="0"/>
          </a:p>
        </p:txBody>
      </p:sp>
      <p:graphicFrame>
        <p:nvGraphicFramePr>
          <p:cNvPr id="6" name="Dataset table"/>
          <p:cNvGraphicFramePr>
            <a:graphicFrameLocks noGrp="1"/>
          </p:cNvGraphicFramePr>
          <p:nvPr>
            <p:extLst>
              <p:ext uri="{D42A27DB-BD31-4B8C-83A1-F6EECF244321}">
                <p14:modId xmlns:p14="http://schemas.microsoft.com/office/powerpoint/2010/main" val="1579011935"/>
              </p:ext>
            </p:extLst>
          </p:nvPr>
        </p:nvGraphicFramePr>
        <p:xfrm>
          <a:off x="548640" y="1280160"/>
          <a:ext cx="5852160" cy="914400"/>
        </p:xfrm>
        <a:graphic>
          <a:graphicData uri="http://schemas.openxmlformats.org/drawingml/2006/table">
            <a:tbl>
              <a:tblPr/>
              <a:tblGrid>
                <a:gridCol w="1417320"/>
                <a:gridCol w="1234440"/>
                <a:gridCol w="914400"/>
                <a:gridCol w="2286000"/>
              </a:tblGrid>
              <a:tr h="0">
                <a:tc>
                  <a:txBody>
                    <a:bodyPr/>
                    <a:lstStyle/>
                    <a:p>
                      <a:pPr indent="0" marL="0">
                        <a:buNone/>
                      </a:pPr>
                      <a:r>
                        <a:rPr lang="en-US" sz="1200" b="1" dirty="0">
                          <a:solidFill>
                            <a:srgbClr val="FFFFFF"/>
                          </a:solidFill>
                        </a:rPr>
                        <a:t>Dataset</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200" b="1" dirty="0">
                          <a:solidFill>
                            <a:srgbClr val="FFFFFF"/>
                          </a:solidFill>
                        </a:rPr>
                        <a:t>Source</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200" b="1" dirty="0">
                          <a:solidFill>
                            <a:srgbClr val="FFFFFF"/>
                          </a:solidFill>
                        </a:rPr>
                        <a:t>Size</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200" b="1" dirty="0">
                          <a:solidFill>
                            <a:srgbClr val="FFFFFF"/>
                          </a:solidFill>
                        </a:rPr>
                        <a:t>Contents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r>
              <a:tr h="0">
                <a:tc>
                  <a:txBody>
                    <a:bodyPr/>
                    <a:lstStyle/>
                    <a:p>
                      <a:pPr indent="0" marL="0">
                        <a:buNone/>
                      </a:pPr>
                      <a:r>
                        <a:rPr lang="en-US" sz="1200" dirty="0">
                          <a:solidFill>
                            <a:srgbClr val="1F2A1F"/>
                          </a:solidFill>
                        </a:rPr>
                        <a:t>Crop Recommendation</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Real · Kaggle</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2,200 × 8</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N, P, K, pH, temperature, humidity, rainfall; 22 crops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200" dirty="0">
                          <a:solidFill>
                            <a:srgbClr val="1F2A1F"/>
                          </a:solidFill>
                        </a:rPr>
                        <a:t>Crop N-P-K requirements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Real · Harvestify</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22 × 6</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Target N, P, K per crop</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A1F"/>
                          </a:solidFill>
                        </a:rPr>
                        <a:t>Nutrient-release data</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Generated · Module 1</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11,000 × 11</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6 field inputs → release rate, cumulative release</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200" dirty="0">
                          <a:solidFill>
                            <a:srgbClr val="1F2A1F"/>
                          </a:solidFill>
                        </a:rPr>
                        <a:t>Recommendation data</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Generated · Module 2</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11,000 × 14</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Crop, stage, N-P-K, pH, release → type, amount, timing</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bl>
          </a:graphicData>
        </a:graphic>
      </p:graphicFrame>
      <p:sp>
        <p:nvSpPr>
          <p:cNvPr id="4" name="Simulation card"/>
          <p:cNvSpPr/>
          <p:nvPr/>
        </p:nvSpPr>
        <p:spPr>
          <a:xfrm>
            <a:off x="548640" y="3611880"/>
            <a:ext cx="5852160" cy="2606040"/>
          </a:xfrm>
          <a:prstGeom prst="roundRect">
            <a:avLst>
              <a:gd name="adj" fmla="val 2807"/>
            </a:avLst>
          </a:prstGeom>
          <a:solidFill>
            <a:schemeClr val="bg2"/>
          </a:solidFill>
          <a:ln/>
        </p:spPr>
      </p:sp>
      <p:sp>
        <p:nvSpPr>
          <p:cNvPr id="5" name="Simulation text"/>
          <p:cNvSpPr txBox="1"/>
          <p:nvPr/>
        </p:nvSpPr>
        <p:spPr>
          <a:xfrm>
            <a:off x="731520" y="3749040"/>
            <a:ext cx="5532120" cy="2331720"/>
          </a:xfrm>
          <a:prstGeom prst="rect">
            <a:avLst/>
          </a:prstGeom>
          <a:noFill/>
          <a:ln/>
        </p:spPr>
        <p:txBody>
          <a:bodyPr wrap="square" lIns="0" tIns="0" rIns="0" bIns="0" rtlCol="0" anchor="ctr"/>
          <a:lstStyle/>
          <a:p>
            <a:pPr indent="0" marL="0">
              <a:spcAft>
                <a:spcPts val="600"/>
              </a:spcAft>
              <a:buNone/>
            </a:pPr>
            <a:r>
              <a:rPr lang="en-US" sz="1500" b="1" dirty="0">
                <a:solidFill>
                  <a:schemeClr val="tx2"/>
                </a:solidFill>
              </a:rPr>
              <a:t>How release is simulated (no public field dataset exists)</a:t>
            </a:r>
            <a:endParaRPr lang="en-US" sz="1400" dirty="0"/>
          </a:p>
          <a:p>
            <a:pPr marL="342900" indent="-342900">
              <a:spcAft>
                <a:spcPts val="600"/>
              </a:spcAft>
              <a:buSzPct val="100000"/>
              <a:buChar char="•"/>
            </a:pPr>
            <a:r>
              <a:rPr lang="en-US" sz="1400" dirty="0">
                <a:solidFill>
                  <a:schemeClr val="tx1"/>
                </a:solidFill>
              </a:rPr>
              <a:t>Each real field record → 5 season scenarios (soil temp, moisture, coating, days)</a:t>
            </a:r>
            <a:endParaRPr lang="en-US" sz="1400" dirty="0"/>
          </a:p>
          <a:p>
            <a:pPr marL="342900" indent="-342900">
              <a:spcAft>
                <a:spcPts val="600"/>
              </a:spcAft>
              <a:buSzPct val="100000"/>
              <a:buChar char="•"/>
            </a:pPr>
            <a:r>
              <a:rPr lang="en-US" sz="1400" dirty="0">
                <a:solidFill>
                  <a:schemeClr val="tx1"/>
                </a:solidFill>
              </a:rPr>
              <a:t>Temperature: Q10 = 1.8, +10 °C ≈ halves release time (Brown et al., 1966)</a:t>
            </a:r>
            <a:endParaRPr lang="en-US" sz="1400" dirty="0"/>
          </a:p>
          <a:p>
            <a:pPr marL="342900" indent="-342900">
              <a:spcAft>
                <a:spcPts val="600"/>
              </a:spcAft>
              <a:buSzPct val="100000"/>
              <a:buChar char="•"/>
            </a:pPr>
            <a:r>
              <a:rPr lang="en-US" sz="1400" dirty="0">
                <a:solidFill>
                  <a:schemeClr val="tx1"/>
                </a:solidFill>
              </a:rPr>
              <a:t>Coating: 90 days at 65 µm; dry soil slows release; S-shaped Weibull curve</a:t>
            </a:r>
            <a:endParaRPr lang="en-US" sz="1400" dirty="0"/>
          </a:p>
          <a:p>
            <a:pPr marL="342900" indent="-342900">
              <a:spcAft>
                <a:spcPts val="600"/>
              </a:spcAft>
              <a:buSzPct val="100000"/>
              <a:buChar char="•"/>
            </a:pPr>
            <a:r>
              <a:rPr lang="en-US" sz="1400" dirty="0">
                <a:solidFill>
                  <a:schemeClr val="tx1"/>
                </a:solidFill>
              </a:rPr>
              <a:t>Noise: 6% batch variability, measurement noise, 3% label disagreement</a:t>
            </a:r>
            <a:endParaRPr lang="en-US" sz="1400" dirty="0"/>
          </a:p>
        </p:txBody>
      </p:sp>
      <p:graphicFrame>
        <p:nvGraphicFramePr>
          <p:cNvPr id="6" name="Duration histogram" descr=""/>
          <p:cNvGraphicFramePr/>
          <p:nvPr/>
        </p:nvGraphicFramePr>
        <p:xfrm>
          <a:off x="6675120" y="1234440"/>
          <a:ext cx="4983480" cy="4114800"/>
        </p:xfrm>
        <a:graphic xmlns:a="http://schemas.openxmlformats.org/drawingml/2006/main">
          <a:graphicData uri="http://schemas.openxmlformats.org/drawingml/2006/chart">
            <c:chart xmlns:c="http://schemas.openxmlformats.org/drawingml/2006/chart" r:id="rId1"/>
          </a:graphicData>
        </a:graphic>
      </p:graphicFrame>
      <p:sp>
        <p:nvSpPr>
          <p:cNvPr id="7" name="Histogram caption"/>
          <p:cNvSpPr txBox="1"/>
          <p:nvPr/>
        </p:nvSpPr>
        <p:spPr>
          <a:xfrm>
            <a:off x="6675120" y="5440680"/>
            <a:ext cx="4983480" cy="731520"/>
          </a:xfrm>
          <a:prstGeom prst="rect">
            <a:avLst/>
          </a:prstGeom>
          <a:noFill/>
          <a:ln/>
        </p:spPr>
        <p:txBody>
          <a:bodyPr wrap="square" lIns="0" tIns="0" rIns="0" bIns="0" rtlCol="0" anchor="t"/>
          <a:lstStyle/>
          <a:p>
            <a:pPr indent="0" marL="0">
              <a:buNone/>
            </a:pPr>
            <a:r>
              <a:rPr lang="en-US" sz="1200" dirty="0">
                <a:solidFill>
                  <a:schemeClr val="accent5"/>
                </a:solidFill>
              </a:rPr>
              <a:t>Median 70 days; 90% of fields 40–126 days. The generated data reproduces the 50–120 day swing in our problem statement.</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 Preparation &amp; Feature Engineering</a:t>
            </a:r>
            <a:endParaRPr lang="en-US" sz="3400" dirty="0"/>
          </a:p>
        </p:txBody>
      </p:sp>
      <p:sp>
        <p:nvSpPr>
          <p:cNvPr id="3" name="Prep card 1"/>
          <p:cNvSpPr/>
          <p:nvPr/>
        </p:nvSpPr>
        <p:spPr>
          <a:xfrm>
            <a:off x="548640" y="1325880"/>
            <a:ext cx="3520440" cy="2286000"/>
          </a:xfrm>
          <a:prstGeom prst="roundRect">
            <a:avLst>
              <a:gd name="adj" fmla="val 4000"/>
            </a:avLst>
          </a:prstGeom>
          <a:solidFill>
            <a:schemeClr val="bg2"/>
          </a:solidFill>
          <a:ln/>
        </p:spPr>
      </p:sp>
      <p:sp>
        <p:nvSpPr>
          <p:cNvPr id="4" name="Prep 1 circle"/>
          <p:cNvSpPr/>
          <p:nvPr/>
        </p:nvSpPr>
        <p:spPr>
          <a:xfrm>
            <a:off x="777240" y="1554480"/>
            <a:ext cx="548640" cy="548640"/>
          </a:xfrm>
          <a:prstGeom prst="ellipse">
            <a:avLst/>
          </a:prstGeom>
          <a:solidFill>
            <a:srgbClr val="2E5E2F"/>
          </a:solidFill>
          <a:ln/>
        </p:spPr>
      </p:sp>
      <p:pic>
        <p:nvPicPr>
          <p:cNvPr id="5" name="Prep 1 icon"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6" name="Prep title 1"/>
          <p:cNvSpPr txBox="1"/>
          <p:nvPr/>
        </p:nvSpPr>
        <p:spPr>
          <a:xfrm>
            <a:off x="1463040" y="1554480"/>
            <a:ext cx="246888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Missing values</a:t>
            </a:r>
            <a:endParaRPr lang="en-US" sz="1800" dirty="0"/>
          </a:p>
        </p:txBody>
      </p:sp>
      <p:sp>
        <p:nvSpPr>
          <p:cNvPr id="7" name="Prep body 1"/>
          <p:cNvSpPr txBox="1"/>
          <p:nvPr/>
        </p:nvSpPr>
        <p:spPr>
          <a:xfrm>
            <a:off x="777240" y="2240280"/>
            <a:ext cx="3108960" cy="1280160"/>
          </a:xfrm>
          <a:prstGeom prst="rect">
            <a:avLst/>
          </a:prstGeom>
          <a:noFill/>
          <a:ln/>
        </p:spPr>
        <p:txBody>
          <a:bodyPr wrap="square" lIns="0" tIns="0" rIns="0" bIns="0" rtlCol="0" anchor="t"/>
          <a:lstStyle/>
          <a:p>
            <a:pPr indent="0" marL="0">
              <a:buNone/>
            </a:pPr>
            <a:r>
              <a:rPr lang="en-US" sz="1400" dirty="0">
                <a:solidFill>
                  <a:schemeClr val="tx1"/>
                </a:solidFill>
              </a:rPr>
              <a:t>0 missing cells in all four datasets (checked with isna()). No imputation needed.</a:t>
            </a:r>
            <a:endParaRPr lang="en-US" sz="1400" dirty="0"/>
          </a:p>
        </p:txBody>
      </p:sp>
      <p:sp>
        <p:nvSpPr>
          <p:cNvPr id="8" name="Prep card 2"/>
          <p:cNvSpPr/>
          <p:nvPr/>
        </p:nvSpPr>
        <p:spPr>
          <a:xfrm>
            <a:off x="4343400" y="1325880"/>
            <a:ext cx="3520440" cy="2286000"/>
          </a:xfrm>
          <a:prstGeom prst="roundRect">
            <a:avLst>
              <a:gd name="adj" fmla="val 4000"/>
            </a:avLst>
          </a:prstGeom>
          <a:solidFill>
            <a:schemeClr val="bg2"/>
          </a:solidFill>
          <a:ln/>
        </p:spPr>
      </p:sp>
      <p:sp>
        <p:nvSpPr>
          <p:cNvPr id="9" name="Prep 2 circle"/>
          <p:cNvSpPr/>
          <p:nvPr/>
        </p:nvSpPr>
        <p:spPr>
          <a:xfrm>
            <a:off x="4572000" y="1554480"/>
            <a:ext cx="548640" cy="548640"/>
          </a:xfrm>
          <a:prstGeom prst="ellipse">
            <a:avLst/>
          </a:prstGeom>
          <a:solidFill>
            <a:srgbClr val="2E5E2F"/>
          </a:solidFill>
          <a:ln/>
        </p:spPr>
      </p:sp>
      <p:pic>
        <p:nvPicPr>
          <p:cNvPr id="10" name="Prep 2 icon" descr="preencoded.png">    </p:cNvPr>
          <p:cNvPicPr>
            <a:picLocks noChangeAspect="1"/>
          </p:cNvPicPr>
          <p:nvPr/>
        </p:nvPicPr>
        <p:blipFill>
          <a:blip r:embed="rId2"/>
          <a:stretch>
            <a:fillRect/>
          </a:stretch>
        </p:blipFill>
        <p:spPr>
          <a:xfrm>
            <a:off x="4709160" y="1691640"/>
            <a:ext cx="274320" cy="274320"/>
          </a:xfrm>
          <a:prstGeom prst="rect">
            <a:avLst/>
          </a:prstGeom>
        </p:spPr>
      </p:pic>
      <p:sp>
        <p:nvSpPr>
          <p:cNvPr id="11" name="Prep title 2"/>
          <p:cNvSpPr txBox="1"/>
          <p:nvPr/>
        </p:nvSpPr>
        <p:spPr>
          <a:xfrm>
            <a:off x="5257800" y="1554480"/>
            <a:ext cx="246888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Duplicates</a:t>
            </a:r>
            <a:endParaRPr lang="en-US" sz="1800" dirty="0"/>
          </a:p>
        </p:txBody>
      </p:sp>
      <p:sp>
        <p:nvSpPr>
          <p:cNvPr id="12" name="Prep body 2"/>
          <p:cNvSpPr txBox="1"/>
          <p:nvPr/>
        </p:nvSpPr>
        <p:spPr>
          <a:xfrm>
            <a:off x="4572000" y="2240280"/>
            <a:ext cx="3108960" cy="1280160"/>
          </a:xfrm>
          <a:prstGeom prst="rect">
            <a:avLst/>
          </a:prstGeom>
          <a:noFill/>
          <a:ln/>
        </p:spPr>
        <p:txBody>
          <a:bodyPr wrap="square" lIns="0" tIns="0" rIns="0" bIns="0" rtlCol="0" anchor="t"/>
          <a:lstStyle/>
          <a:p>
            <a:pPr indent="0" marL="0">
              <a:buNone/>
            </a:pPr>
            <a:r>
              <a:rPr lang="en-US" sz="1400" dirty="0">
                <a:solidFill>
                  <a:schemeClr val="tx1"/>
                </a:solidFill>
              </a:rPr>
              <a:t>0 duplicate rows in the real Kaggle data and in both generated datasets.</a:t>
            </a:r>
            <a:endParaRPr lang="en-US" sz="1400" dirty="0"/>
          </a:p>
        </p:txBody>
      </p:sp>
      <p:sp>
        <p:nvSpPr>
          <p:cNvPr id="13" name="Prep card 3"/>
          <p:cNvSpPr/>
          <p:nvPr/>
        </p:nvSpPr>
        <p:spPr>
          <a:xfrm>
            <a:off x="8138160" y="1325880"/>
            <a:ext cx="3520440" cy="2286000"/>
          </a:xfrm>
          <a:prstGeom prst="roundRect">
            <a:avLst>
              <a:gd name="adj" fmla="val 4000"/>
            </a:avLst>
          </a:prstGeom>
          <a:solidFill>
            <a:schemeClr val="bg2"/>
          </a:solidFill>
          <a:ln/>
        </p:spPr>
      </p:sp>
      <p:sp>
        <p:nvSpPr>
          <p:cNvPr id="14" name="Prep 3 circle"/>
          <p:cNvSpPr/>
          <p:nvPr/>
        </p:nvSpPr>
        <p:spPr>
          <a:xfrm>
            <a:off x="8366760" y="1554480"/>
            <a:ext cx="548640" cy="548640"/>
          </a:xfrm>
          <a:prstGeom prst="ellipse">
            <a:avLst/>
          </a:prstGeom>
          <a:solidFill>
            <a:srgbClr val="2E5E2F"/>
          </a:solidFill>
          <a:ln/>
        </p:spPr>
      </p:sp>
      <p:pic>
        <p:nvPicPr>
          <p:cNvPr id="15" name="Prep 3 icon" descr="preencoded.png">    </p:cNvPr>
          <p:cNvPicPr>
            <a:picLocks noChangeAspect="1"/>
          </p:cNvPicPr>
          <p:nvPr/>
        </p:nvPicPr>
        <p:blipFill>
          <a:blip r:embed="rId3"/>
          <a:stretch>
            <a:fillRect/>
          </a:stretch>
        </p:blipFill>
        <p:spPr>
          <a:xfrm>
            <a:off x="8503920" y="1691640"/>
            <a:ext cx="274320" cy="274320"/>
          </a:xfrm>
          <a:prstGeom prst="rect">
            <a:avLst/>
          </a:prstGeom>
        </p:spPr>
      </p:pic>
      <p:sp>
        <p:nvSpPr>
          <p:cNvPr id="16" name="Prep title 3"/>
          <p:cNvSpPr txBox="1"/>
          <p:nvPr/>
        </p:nvSpPr>
        <p:spPr>
          <a:xfrm>
            <a:off x="9052560" y="1554480"/>
            <a:ext cx="246888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Outliers</a:t>
            </a:r>
            <a:endParaRPr lang="en-US" sz="1800" dirty="0"/>
          </a:p>
        </p:txBody>
      </p:sp>
      <p:sp>
        <p:nvSpPr>
          <p:cNvPr id="17" name="Prep body 3"/>
          <p:cNvSpPr txBox="1"/>
          <p:nvPr/>
        </p:nvSpPr>
        <p:spPr>
          <a:xfrm>
            <a:off x="8366760" y="2240280"/>
            <a:ext cx="3108960" cy="1280160"/>
          </a:xfrm>
          <a:prstGeom prst="rect">
            <a:avLst/>
          </a:prstGeom>
          <a:noFill/>
          <a:ln/>
        </p:spPr>
        <p:txBody>
          <a:bodyPr wrap="square" lIns="0" tIns="0" rIns="0" bIns="0" rtlCol="0" anchor="t"/>
          <a:lstStyle/>
          <a:p>
            <a:pPr indent="0" marL="0">
              <a:buNone/>
            </a:pPr>
            <a:r>
              <a:rPr lang="en-US" sz="1400" dirty="0">
                <a:solidFill>
                  <a:schemeClr val="tx1"/>
                </a:solidFill>
              </a:rPr>
              <a:t>IQR rule flags high P, K and rainfall (e.g. apple and grape soils, K ≈ 200). Kept as genuine crop values; derived soil values clipped to 8–48 °C and 5–50%.</a:t>
            </a:r>
            <a:endParaRPr lang="en-US" sz="1400" dirty="0"/>
          </a:p>
        </p:txBody>
      </p:sp>
      <p:sp>
        <p:nvSpPr>
          <p:cNvPr id="18" name="Prep card 4"/>
          <p:cNvSpPr/>
          <p:nvPr/>
        </p:nvSpPr>
        <p:spPr>
          <a:xfrm>
            <a:off x="548640" y="3840480"/>
            <a:ext cx="3520440" cy="2286000"/>
          </a:xfrm>
          <a:prstGeom prst="roundRect">
            <a:avLst>
              <a:gd name="adj" fmla="val 4000"/>
            </a:avLst>
          </a:prstGeom>
          <a:solidFill>
            <a:schemeClr val="bg2"/>
          </a:solidFill>
          <a:ln/>
        </p:spPr>
      </p:sp>
      <p:sp>
        <p:nvSpPr>
          <p:cNvPr id="19" name="Prep 4 circle"/>
          <p:cNvSpPr/>
          <p:nvPr/>
        </p:nvSpPr>
        <p:spPr>
          <a:xfrm>
            <a:off x="777240" y="4069080"/>
            <a:ext cx="548640" cy="548640"/>
          </a:xfrm>
          <a:prstGeom prst="ellipse">
            <a:avLst/>
          </a:prstGeom>
          <a:solidFill>
            <a:srgbClr val="2E5E2F"/>
          </a:solidFill>
          <a:ln/>
        </p:spPr>
      </p:sp>
      <p:pic>
        <p:nvPicPr>
          <p:cNvPr id="20" name="Prep 4 icon" descr="preencoded.png">    </p:cNvPr>
          <p:cNvPicPr>
            <a:picLocks noChangeAspect="1"/>
          </p:cNvPicPr>
          <p:nvPr/>
        </p:nvPicPr>
        <p:blipFill>
          <a:blip r:embed="rId4"/>
          <a:stretch>
            <a:fillRect/>
          </a:stretch>
        </p:blipFill>
        <p:spPr>
          <a:xfrm>
            <a:off x="914400" y="4206240"/>
            <a:ext cx="274320" cy="274320"/>
          </a:xfrm>
          <a:prstGeom prst="rect">
            <a:avLst/>
          </a:prstGeom>
        </p:spPr>
      </p:pic>
      <p:sp>
        <p:nvSpPr>
          <p:cNvPr id="21" name="Prep title 4"/>
          <p:cNvSpPr txBox="1"/>
          <p:nvPr/>
        </p:nvSpPr>
        <p:spPr>
          <a:xfrm>
            <a:off x="1463040" y="4069080"/>
            <a:ext cx="246888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Encoding</a:t>
            </a:r>
            <a:endParaRPr lang="en-US" sz="1800" dirty="0"/>
          </a:p>
        </p:txBody>
      </p:sp>
      <p:sp>
        <p:nvSpPr>
          <p:cNvPr id="22" name="Prep body 4"/>
          <p:cNvSpPr txBox="1"/>
          <p:nvPr/>
        </p:nvSpPr>
        <p:spPr>
          <a:xfrm>
            <a:off x="777240" y="4754880"/>
            <a:ext cx="3108960" cy="1280160"/>
          </a:xfrm>
          <a:prstGeom prst="rect">
            <a:avLst/>
          </a:prstGeom>
          <a:noFill/>
          <a:ln/>
        </p:spPr>
        <p:txBody>
          <a:bodyPr wrap="square" lIns="0" tIns="0" rIns="0" bIns="0" rtlCol="0" anchor="t"/>
          <a:lstStyle/>
          <a:p>
            <a:pPr indent="0" marL="0">
              <a:buNone/>
            </a:pPr>
            <a:r>
              <a:rPr lang="en-US" sz="1400" dirty="0">
                <a:solidFill>
                  <a:schemeClr val="tx1"/>
                </a:solidFill>
              </a:rPr>
              <a:t>One-hot: crop type (22), growth stage (4), fertilizer type (7). Fertilizer classes label-encoded for XGBoost.</a:t>
            </a:r>
            <a:endParaRPr lang="en-US" sz="1400" dirty="0"/>
          </a:p>
        </p:txBody>
      </p:sp>
      <p:sp>
        <p:nvSpPr>
          <p:cNvPr id="23" name="Prep card 5"/>
          <p:cNvSpPr/>
          <p:nvPr/>
        </p:nvSpPr>
        <p:spPr>
          <a:xfrm>
            <a:off x="4343400" y="3840480"/>
            <a:ext cx="3520440" cy="2286000"/>
          </a:xfrm>
          <a:prstGeom prst="roundRect">
            <a:avLst>
              <a:gd name="adj" fmla="val 4000"/>
            </a:avLst>
          </a:prstGeom>
          <a:solidFill>
            <a:schemeClr val="bg2"/>
          </a:solidFill>
          <a:ln/>
        </p:spPr>
      </p:sp>
      <p:sp>
        <p:nvSpPr>
          <p:cNvPr id="24" name="Prep 5 circle"/>
          <p:cNvSpPr/>
          <p:nvPr/>
        </p:nvSpPr>
        <p:spPr>
          <a:xfrm>
            <a:off x="4572000" y="4069080"/>
            <a:ext cx="548640" cy="548640"/>
          </a:xfrm>
          <a:prstGeom prst="ellipse">
            <a:avLst/>
          </a:prstGeom>
          <a:solidFill>
            <a:srgbClr val="2E5E2F"/>
          </a:solidFill>
          <a:ln/>
        </p:spPr>
      </p:sp>
      <p:pic>
        <p:nvPicPr>
          <p:cNvPr id="25" name="Prep 5 icon" descr="preencoded.png">    </p:cNvPr>
          <p:cNvPicPr>
            <a:picLocks noChangeAspect="1"/>
          </p:cNvPicPr>
          <p:nvPr/>
        </p:nvPicPr>
        <p:blipFill>
          <a:blip r:embed="rId5"/>
          <a:stretch>
            <a:fillRect/>
          </a:stretch>
        </p:blipFill>
        <p:spPr>
          <a:xfrm>
            <a:off x="4709160" y="4206240"/>
            <a:ext cx="274320" cy="274320"/>
          </a:xfrm>
          <a:prstGeom prst="rect">
            <a:avLst/>
          </a:prstGeom>
        </p:spPr>
      </p:pic>
      <p:sp>
        <p:nvSpPr>
          <p:cNvPr id="26" name="Prep title 5"/>
          <p:cNvSpPr txBox="1"/>
          <p:nvPr/>
        </p:nvSpPr>
        <p:spPr>
          <a:xfrm>
            <a:off x="5257800" y="4069080"/>
            <a:ext cx="246888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Scaling</a:t>
            </a:r>
            <a:endParaRPr lang="en-US" sz="1800" dirty="0"/>
          </a:p>
        </p:txBody>
      </p:sp>
      <p:sp>
        <p:nvSpPr>
          <p:cNvPr id="27" name="Prep body 5"/>
          <p:cNvSpPr txBox="1"/>
          <p:nvPr/>
        </p:nvSpPr>
        <p:spPr>
          <a:xfrm>
            <a:off x="4572000" y="4754880"/>
            <a:ext cx="3108960" cy="1280160"/>
          </a:xfrm>
          <a:prstGeom prst="rect">
            <a:avLst/>
          </a:prstGeom>
          <a:noFill/>
          <a:ln/>
        </p:spPr>
        <p:txBody>
          <a:bodyPr wrap="square" lIns="0" tIns="0" rIns="0" bIns="0" rtlCol="0" anchor="t"/>
          <a:lstStyle/>
          <a:p>
            <a:pPr indent="0" marL="0">
              <a:buNone/>
            </a:pPr>
            <a:r>
              <a:rPr lang="en-US" sz="1400" dirty="0">
                <a:solidFill>
                  <a:schemeClr val="tx1"/>
                </a:solidFill>
              </a:rPr>
              <a:t>StandardScaler before linear and polynomial regression. Trees and XGBoost use raw values (scale-invariant).</a:t>
            </a:r>
            <a:endParaRPr lang="en-US" sz="1400" dirty="0"/>
          </a:p>
        </p:txBody>
      </p:sp>
      <p:sp>
        <p:nvSpPr>
          <p:cNvPr id="28" name="Prep card 6"/>
          <p:cNvSpPr/>
          <p:nvPr/>
        </p:nvSpPr>
        <p:spPr>
          <a:xfrm>
            <a:off x="8138160" y="3840480"/>
            <a:ext cx="3520440" cy="2286000"/>
          </a:xfrm>
          <a:prstGeom prst="roundRect">
            <a:avLst>
              <a:gd name="adj" fmla="val 4000"/>
            </a:avLst>
          </a:prstGeom>
          <a:solidFill>
            <a:schemeClr val="bg2"/>
          </a:solidFill>
          <a:ln/>
        </p:spPr>
      </p:sp>
      <p:sp>
        <p:nvSpPr>
          <p:cNvPr id="29" name="Prep 6 circle"/>
          <p:cNvSpPr/>
          <p:nvPr/>
        </p:nvSpPr>
        <p:spPr>
          <a:xfrm>
            <a:off x="8366760" y="4069080"/>
            <a:ext cx="548640" cy="548640"/>
          </a:xfrm>
          <a:prstGeom prst="ellipse">
            <a:avLst/>
          </a:prstGeom>
          <a:solidFill>
            <a:srgbClr val="2E5E2F"/>
          </a:solidFill>
          <a:ln/>
        </p:spPr>
      </p:sp>
      <p:pic>
        <p:nvPicPr>
          <p:cNvPr id="30" name="Prep 6 icon" descr="preencoded.png">    </p:cNvPr>
          <p:cNvPicPr>
            <a:picLocks noChangeAspect="1"/>
          </p:cNvPicPr>
          <p:nvPr/>
        </p:nvPicPr>
        <p:blipFill>
          <a:blip r:embed="rId6"/>
          <a:stretch>
            <a:fillRect/>
          </a:stretch>
        </p:blipFill>
        <p:spPr>
          <a:xfrm>
            <a:off x="8503920" y="4206240"/>
            <a:ext cx="274320" cy="274320"/>
          </a:xfrm>
          <a:prstGeom prst="rect">
            <a:avLst/>
          </a:prstGeom>
        </p:spPr>
      </p:pic>
      <p:sp>
        <p:nvSpPr>
          <p:cNvPr id="31" name="Prep title 6"/>
          <p:cNvSpPr txBox="1"/>
          <p:nvPr/>
        </p:nvSpPr>
        <p:spPr>
          <a:xfrm>
            <a:off x="9052560" y="4069080"/>
            <a:ext cx="246888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Feature engineering</a:t>
            </a:r>
            <a:endParaRPr lang="en-US" sz="1800" dirty="0"/>
          </a:p>
        </p:txBody>
      </p:sp>
      <p:sp>
        <p:nvSpPr>
          <p:cNvPr id="32" name="Prep body 6"/>
          <p:cNvSpPr txBox="1"/>
          <p:nvPr/>
        </p:nvSpPr>
        <p:spPr>
          <a:xfrm>
            <a:off x="8366760" y="4754880"/>
            <a:ext cx="3108960" cy="1280160"/>
          </a:xfrm>
          <a:prstGeom prst="rect">
            <a:avLst/>
          </a:prstGeom>
          <a:noFill/>
          <a:ln/>
        </p:spPr>
        <p:txBody>
          <a:bodyPr wrap="square" lIns="0" tIns="0" rIns="0" bIns="0" rtlCol="0" anchor="t"/>
          <a:lstStyle/>
          <a:p>
            <a:pPr indent="0" marL="0">
              <a:buNone/>
            </a:pPr>
            <a:r>
              <a:rPr lang="en-US" sz="1400" dirty="0">
                <a:solidFill>
                  <a:schemeClr val="tx1"/>
                </a:solidFill>
              </a:rPr>
              <a:t>Soil temperature = air + 1–6 °C; soil moisture from humidity + rainfall; synchrony index = predicted release days ÷ crop days left.</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Methodology</a:t>
            </a:r>
            <a:endParaRPr lang="en-US" sz="3400" dirty="0"/>
          </a:p>
        </p:txBody>
      </p:sp>
      <p:graphicFrame>
        <p:nvGraphicFramePr>
          <p:cNvPr id="8" name="Model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743200"/>
                <a:gridCol w="2651760"/>
                <a:gridCol w="5696712"/>
              </a:tblGrid>
              <a:tr h="0">
                <a:tc>
                  <a:txBody>
                    <a:bodyPr/>
                    <a:lstStyle/>
                    <a:p>
                      <a:pPr indent="0" marL="0">
                        <a:buNone/>
                      </a:pPr>
                      <a:r>
                        <a:rPr lang="en-US" sz="1400" b="1" dirty="0">
                          <a:solidFill>
                            <a:srgbClr val="FFFFFF"/>
                          </a:solidFill>
                        </a:rPr>
                        <a:t>Model</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400" b="1" dirty="0">
                          <a:solidFill>
                            <a:srgbClr val="FFFFFF"/>
                          </a:solidFill>
                        </a:rPr>
                        <a:t>Used in</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400" b="1" dirty="0">
                          <a:solidFill>
                            <a:srgbClr val="FFFFFF"/>
                          </a:solidFill>
                        </a:rPr>
                        <a:t>Why it fits this problem</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r>
              <a:tr h="0">
                <a:tc>
                  <a:txBody>
                    <a:bodyPr/>
                    <a:lstStyle/>
                    <a:p>
                      <a:pPr indent="0" marL="0">
                        <a:buNone/>
                      </a:pPr>
                      <a:r>
                        <a:rPr lang="en-US" sz="1400" b="1" dirty="0">
                          <a:solidFill>
                            <a:srgbClr val="1F2A1F"/>
                          </a:solidFill>
                        </a:rPr>
                        <a:t>Linear / Polynomial Regression</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Module 1</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Interpretable baseline; degree-3 terms capture the exponential temperature effect</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400" b="1" dirty="0">
                          <a:solidFill>
                            <a:srgbClr val="1F2A1F"/>
                          </a:solidFill>
                        </a:rPr>
                        <a:t>Decision Tree</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Module 1; Module 2 baseline</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Non-linear and explainable; gives feature importance</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2A1F"/>
                          </a:solidFill>
                        </a:rPr>
                        <a:t>Random Forest</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Module 1 benchmark; Module 2</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Averages 300 trees → lower variance, robust to outliers</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400" b="1" dirty="0">
                          <a:solidFill>
                            <a:srgbClr val="1F2A1F"/>
                          </a:solidFill>
                        </a:rPr>
                        <a:t>XGBoost</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Module 2 (final)</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Gradient-boosted trees; strongest on tabular data with feature interactions</a:t>
                      </a:r>
                      <a:endParaRPr lang="en-US" sz="1400" dirty="0"/>
                    </a:p>
                  </a:txBody>
                  <a:tcPr marL="76200" marR="76200" marT="50800" marB="508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bl>
          </a:graphicData>
        </a:graphic>
      </p:graphicFrame>
      <p:sp>
        <p:nvSpPr>
          <p:cNvPr id="4" name="Process header"/>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TRAINING &amp; VALIDATION PROCESS</a:t>
            </a:r>
            <a:endParaRPr lang="en-US" sz="1100" dirty="0"/>
          </a:p>
        </p:txBody>
      </p:sp>
      <p:sp>
        <p:nvSpPr>
          <p:cNvPr id="5" name="Step box 1"/>
          <p:cNvSpPr/>
          <p:nvPr/>
        </p:nvSpPr>
        <p:spPr>
          <a:xfrm>
            <a:off x="548640" y="3886200"/>
            <a:ext cx="2057400" cy="1463040"/>
          </a:xfrm>
          <a:prstGeom prst="roundRect">
            <a:avLst>
              <a:gd name="adj" fmla="val 6250"/>
            </a:avLst>
          </a:prstGeom>
          <a:solidFill>
            <a:schemeClr val="bg2"/>
          </a:solidFill>
          <a:ln/>
        </p:spPr>
      </p:sp>
      <p:sp>
        <p:nvSpPr>
          <p:cNvPr id="6" name="Step text 1"/>
          <p:cNvSpPr txBox="1"/>
          <p:nvPr/>
        </p:nvSpPr>
        <p:spPr>
          <a:xfrm>
            <a:off x="685800" y="3931920"/>
            <a:ext cx="1783080" cy="13716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a:t>
            </a:r>
            <a:endParaRPr lang="en-US" sz="2000" dirty="0"/>
          </a:p>
          <a:p>
            <a:pPr indent="0" marL="0">
              <a:buNone/>
            </a:pPr>
            <a:r>
              <a:rPr lang="en-US" sz="1300" dirty="0">
                <a:solidFill>
                  <a:schemeClr val="tx1"/>
                </a:solidFill>
              </a:rPr>
              <a:t>80/20 train–test split (stratified by fertilizer type)</a:t>
            </a:r>
            <a:endParaRPr lang="en-US" sz="2000" dirty="0"/>
          </a:p>
        </p:txBody>
      </p:sp>
      <p:sp>
        <p:nvSpPr>
          <p:cNvPr id="7" name="Step arrow 1"/>
          <p:cNvSpPr/>
          <p:nvPr/>
        </p:nvSpPr>
        <p:spPr>
          <a:xfrm>
            <a:off x="2624328" y="4498848"/>
            <a:ext cx="164592" cy="237744"/>
          </a:xfrm>
          <a:prstGeom prst="rightArrow">
            <a:avLst/>
          </a:prstGeom>
          <a:solidFill>
            <a:schemeClr val="accent3"/>
          </a:solidFill>
          <a:ln/>
        </p:spPr>
      </p:sp>
      <p:sp>
        <p:nvSpPr>
          <p:cNvPr id="8" name="Step box 2"/>
          <p:cNvSpPr/>
          <p:nvPr/>
        </p:nvSpPr>
        <p:spPr>
          <a:xfrm>
            <a:off x="2807208" y="3886200"/>
            <a:ext cx="2057400" cy="1463040"/>
          </a:xfrm>
          <a:prstGeom prst="roundRect">
            <a:avLst>
              <a:gd name="adj" fmla="val 6250"/>
            </a:avLst>
          </a:prstGeom>
          <a:solidFill>
            <a:schemeClr val="accent2"/>
          </a:solidFill>
          <a:ln/>
        </p:spPr>
      </p:sp>
      <p:sp>
        <p:nvSpPr>
          <p:cNvPr id="9" name="Step text 2"/>
          <p:cNvSpPr txBox="1"/>
          <p:nvPr/>
        </p:nvSpPr>
        <p:spPr>
          <a:xfrm>
            <a:off x="2944368" y="3931920"/>
            <a:ext cx="1783080" cy="13716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a:t>
            </a:r>
            <a:endParaRPr lang="en-US" sz="2000" dirty="0"/>
          </a:p>
          <a:p>
            <a:pPr indent="0" marL="0">
              <a:buNone/>
            </a:pPr>
            <a:r>
              <a:rPr lang="en-US" sz="1300" dirty="0">
                <a:solidFill>
                  <a:schemeClr val="tx1"/>
                </a:solidFill>
              </a:rPr>
              <a:t>5-fold cross-validation on the 80% training set</a:t>
            </a:r>
            <a:endParaRPr lang="en-US" sz="2000" dirty="0"/>
          </a:p>
        </p:txBody>
      </p:sp>
      <p:sp>
        <p:nvSpPr>
          <p:cNvPr id="10" name="Step arrow 2"/>
          <p:cNvSpPr/>
          <p:nvPr/>
        </p:nvSpPr>
        <p:spPr>
          <a:xfrm>
            <a:off x="4882896" y="4498848"/>
            <a:ext cx="164592" cy="237744"/>
          </a:xfrm>
          <a:prstGeom prst="rightArrow">
            <a:avLst/>
          </a:prstGeom>
          <a:solidFill>
            <a:schemeClr val="accent3"/>
          </a:solidFill>
          <a:ln/>
        </p:spPr>
      </p:sp>
      <p:sp>
        <p:nvSpPr>
          <p:cNvPr id="11" name="Step box 3"/>
          <p:cNvSpPr/>
          <p:nvPr/>
        </p:nvSpPr>
        <p:spPr>
          <a:xfrm>
            <a:off x="5065776" y="3886200"/>
            <a:ext cx="2057400" cy="1463040"/>
          </a:xfrm>
          <a:prstGeom prst="roundRect">
            <a:avLst>
              <a:gd name="adj" fmla="val 6250"/>
            </a:avLst>
          </a:prstGeom>
          <a:solidFill>
            <a:schemeClr val="bg2"/>
          </a:solidFill>
          <a:ln/>
        </p:spPr>
      </p:sp>
      <p:sp>
        <p:nvSpPr>
          <p:cNvPr id="12" name="Step text 3"/>
          <p:cNvSpPr txBox="1"/>
          <p:nvPr/>
        </p:nvSpPr>
        <p:spPr>
          <a:xfrm>
            <a:off x="5202936" y="3931920"/>
            <a:ext cx="1783080" cy="13716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3</a:t>
            </a:r>
            <a:endParaRPr lang="en-US" sz="2000" dirty="0"/>
          </a:p>
          <a:p>
            <a:pPr indent="0" marL="0">
              <a:buNone/>
            </a:pPr>
            <a:r>
              <a:rPr lang="en-US" sz="1300" dirty="0">
                <a:solidFill>
                  <a:schemeClr val="tx1"/>
                </a:solidFill>
              </a:rPr>
              <a:t>Select the best model by mean CV score</a:t>
            </a:r>
            <a:endParaRPr lang="en-US" sz="2000" dirty="0"/>
          </a:p>
        </p:txBody>
      </p:sp>
      <p:sp>
        <p:nvSpPr>
          <p:cNvPr id="13" name="Step arrow 3"/>
          <p:cNvSpPr/>
          <p:nvPr/>
        </p:nvSpPr>
        <p:spPr>
          <a:xfrm>
            <a:off x="7141464" y="4498848"/>
            <a:ext cx="164592" cy="237744"/>
          </a:xfrm>
          <a:prstGeom prst="rightArrow">
            <a:avLst/>
          </a:prstGeom>
          <a:solidFill>
            <a:schemeClr val="accent3"/>
          </a:solidFill>
          <a:ln/>
        </p:spPr>
      </p:sp>
      <p:sp>
        <p:nvSpPr>
          <p:cNvPr id="14" name="Step box 4"/>
          <p:cNvSpPr/>
          <p:nvPr/>
        </p:nvSpPr>
        <p:spPr>
          <a:xfrm>
            <a:off x="7324344" y="3886200"/>
            <a:ext cx="2057400" cy="1463040"/>
          </a:xfrm>
          <a:prstGeom prst="roundRect">
            <a:avLst>
              <a:gd name="adj" fmla="val 6250"/>
            </a:avLst>
          </a:prstGeom>
          <a:solidFill>
            <a:schemeClr val="accent2"/>
          </a:solidFill>
          <a:ln/>
        </p:spPr>
      </p:sp>
      <p:sp>
        <p:nvSpPr>
          <p:cNvPr id="15" name="Step text 4"/>
          <p:cNvSpPr txBox="1"/>
          <p:nvPr/>
        </p:nvSpPr>
        <p:spPr>
          <a:xfrm>
            <a:off x="7461504" y="3931920"/>
            <a:ext cx="1783080" cy="13716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4</a:t>
            </a:r>
            <a:endParaRPr lang="en-US" sz="2000" dirty="0"/>
          </a:p>
          <a:p>
            <a:pPr indent="0" marL="0">
              <a:buNone/>
            </a:pPr>
            <a:r>
              <a:rPr lang="en-US" sz="1300" dirty="0">
                <a:solidFill>
                  <a:schemeClr val="tx1"/>
                </a:solidFill>
              </a:rPr>
              <a:t>Evaluate once on the held-out 20% test set</a:t>
            </a:r>
            <a:endParaRPr lang="en-US" sz="2000" dirty="0"/>
          </a:p>
        </p:txBody>
      </p:sp>
      <p:sp>
        <p:nvSpPr>
          <p:cNvPr id="16" name="Step arrow 4"/>
          <p:cNvSpPr/>
          <p:nvPr/>
        </p:nvSpPr>
        <p:spPr>
          <a:xfrm>
            <a:off x="9400032" y="4498848"/>
            <a:ext cx="164592" cy="237744"/>
          </a:xfrm>
          <a:prstGeom prst="rightArrow">
            <a:avLst/>
          </a:prstGeom>
          <a:solidFill>
            <a:schemeClr val="accent3"/>
          </a:solidFill>
          <a:ln/>
        </p:spPr>
      </p:sp>
      <p:sp>
        <p:nvSpPr>
          <p:cNvPr id="17" name="Step box 5"/>
          <p:cNvSpPr/>
          <p:nvPr/>
        </p:nvSpPr>
        <p:spPr>
          <a:xfrm>
            <a:off x="9582912" y="3886200"/>
            <a:ext cx="2057400" cy="1463040"/>
          </a:xfrm>
          <a:prstGeom prst="roundRect">
            <a:avLst>
              <a:gd name="adj" fmla="val 6250"/>
            </a:avLst>
          </a:prstGeom>
          <a:solidFill>
            <a:schemeClr val="bg2"/>
          </a:solidFill>
          <a:ln/>
        </p:spPr>
      </p:sp>
      <p:sp>
        <p:nvSpPr>
          <p:cNvPr id="18" name="Step text 5"/>
          <p:cNvSpPr txBox="1"/>
          <p:nvPr/>
        </p:nvSpPr>
        <p:spPr>
          <a:xfrm>
            <a:off x="9720072" y="3931920"/>
            <a:ext cx="1783080" cy="13716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5</a:t>
            </a:r>
            <a:endParaRPr lang="en-US" sz="2000" dirty="0"/>
          </a:p>
          <a:p>
            <a:pPr indent="0" marL="0">
              <a:buNone/>
            </a:pPr>
            <a:r>
              <a:rPr lang="en-US" sz="1300" dirty="0">
                <a:solidFill>
                  <a:schemeClr val="tx1"/>
                </a:solidFill>
              </a:rPr>
              <a:t>Compare with the static system and an ablation without Module 1</a:t>
            </a:r>
            <a:endParaRPr lang="en-US" sz="2000" dirty="0"/>
          </a:p>
        </p:txBody>
      </p:sp>
      <p:sp>
        <p:nvSpPr>
          <p:cNvPr id="19" name="Metrics card"/>
          <p:cNvSpPr/>
          <p:nvPr/>
        </p:nvSpPr>
        <p:spPr>
          <a:xfrm>
            <a:off x="548640" y="5532120"/>
            <a:ext cx="11091672" cy="640080"/>
          </a:xfrm>
          <a:prstGeom prst="roundRect">
            <a:avLst>
              <a:gd name="adj" fmla="val 11429"/>
            </a:avLst>
          </a:prstGeom>
          <a:solidFill>
            <a:schemeClr val="bg2"/>
          </a:solidFill>
          <a:ln/>
        </p:spPr>
      </p:sp>
      <p:sp>
        <p:nvSpPr>
          <p:cNvPr id="20" name="Metrics text"/>
          <p:cNvSpPr txBox="1"/>
          <p:nvPr/>
        </p:nvSpPr>
        <p:spPr>
          <a:xfrm>
            <a:off x="777240" y="5532120"/>
            <a:ext cx="10698480" cy="640080"/>
          </a:xfrm>
          <a:prstGeom prst="rect">
            <a:avLst/>
          </a:prstGeom>
          <a:noFill/>
          <a:ln/>
        </p:spPr>
        <p:txBody>
          <a:bodyPr wrap="square" lIns="0" tIns="0" rIns="0" bIns="0" rtlCol="0" anchor="ctr"/>
          <a:lstStyle/>
          <a:p>
            <a:pPr indent="0" marL="0">
              <a:buNone/>
            </a:pPr>
            <a:r>
              <a:rPr lang="en-US" sz="1400" b="1" dirty="0">
                <a:solidFill>
                  <a:schemeClr val="accent1"/>
                </a:solidFill>
              </a:rPr>
              <a:t>Metrics  </a:t>
            </a:r>
            <a:pPr indent="0" marL="0">
              <a:buNone/>
            </a:pPr>
            <a:r>
              <a:rPr lang="en-US" sz="1400" dirty="0">
                <a:solidFill>
                  <a:schemeClr val="tx1"/>
                </a:solidFill>
              </a:rPr>
              <a:t>Regression: MSE · RMSE · MAE · R²      Classification: accuracy · macro-F1 · confusion matrix</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Model Implementation</a:t>
            </a:r>
            <a:endParaRPr lang="en-US" sz="3400" dirty="0"/>
          </a:p>
        </p:txBody>
      </p:sp>
      <p:graphicFrame>
        <p:nvGraphicFramePr>
          <p:cNvPr id="9" name="Hyperparameter table"/>
          <p:cNvGraphicFramePr>
            <a:graphicFrameLocks noGrp="1"/>
          </p:cNvGraphicFramePr>
          <p:nvPr>
            <p:extLst>
              <p:ext uri="{D42A27DB-BD31-4B8C-83A1-F6EECF244321}">
                <p14:modId xmlns:p14="http://schemas.microsoft.com/office/powerpoint/2010/main" val="1579011935"/>
              </p:ext>
            </p:extLst>
          </p:nvPr>
        </p:nvGraphicFramePr>
        <p:xfrm>
          <a:off x="548640" y="1280160"/>
          <a:ext cx="6309360" cy="914400"/>
        </p:xfrm>
        <a:graphic>
          <a:graphicData uri="http://schemas.openxmlformats.org/drawingml/2006/table">
            <a:tbl>
              <a:tblPr/>
              <a:tblGrid>
                <a:gridCol w="1828800"/>
                <a:gridCol w="4480560"/>
              </a:tblGrid>
              <a:tr h="0">
                <a:tc>
                  <a:txBody>
                    <a:bodyPr/>
                    <a:lstStyle/>
                    <a:p>
                      <a:pPr indent="0" marL="0">
                        <a:buNone/>
                      </a:pPr>
                      <a:r>
                        <a:rPr lang="en-US" sz="1400" b="1" dirty="0">
                          <a:solidFill>
                            <a:srgbClr val="FFFFFF"/>
                          </a:solidFill>
                        </a:rPr>
                        <a:t>Model</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400" b="1" dirty="0">
                          <a:solidFill>
                            <a:srgbClr val="FFFFFF"/>
                          </a:solidFill>
                        </a:rPr>
                        <a:t>Key hyperparameters</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r>
              <a:tr h="0">
                <a:tc>
                  <a:txBody>
                    <a:bodyPr/>
                    <a:lstStyle/>
                    <a:p>
                      <a:pPr indent="0" marL="0">
                        <a:buNone/>
                      </a:pPr>
                      <a:r>
                        <a:rPr lang="en-US" sz="1400" b="1" dirty="0">
                          <a:solidFill>
                            <a:srgbClr val="1F2A1F"/>
                          </a:solidFill>
                        </a:rPr>
                        <a:t>Linear Regression</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StandardScaler → ordinary least squares</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400" b="1" dirty="0">
                          <a:solidFill>
                            <a:srgbClr val="1F2A1F"/>
                          </a:solidFill>
                        </a:rPr>
                        <a:t>Polynomial LR</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PolynomialFeatures(degree = 3) → OLS</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2A1F"/>
                          </a:solidFill>
                        </a:rPr>
                        <a:t>Decision Tree (M1)</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GridSearchCV: max_depth {6, 10, 14, None}, min_samples_leaf {1, 5, 10} → best leaf = 5</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400" b="1" dirty="0">
                          <a:solidFill>
                            <a:srgbClr val="1F2A1F"/>
                          </a:solidFill>
                        </a:rPr>
                        <a:t>Random Forest</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300 trees; min_samples_leaf 1 (classifier) / 2 (regressor)</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2A1F"/>
                          </a:solidFill>
                        </a:rPr>
                        <a:t>XGBoost classifier</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400 trees, max_depth 6, learning_rate 0.08, subsample 0.9, colsample 0.9</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400" b="1" dirty="0">
                          <a:solidFill>
                            <a:srgbClr val="1F2A1F"/>
                          </a:solidFill>
                        </a:rPr>
                        <a:t>XGBoost regressors</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400" dirty="0">
                          <a:solidFill>
                            <a:srgbClr val="1F2A1F"/>
                          </a:solidFill>
                        </a:rPr>
                        <a:t>500 trees, max_depth 6, learning_rate 0.06 (amount &amp; timing)</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F2A1F"/>
                          </a:solidFill>
                        </a:rPr>
                        <a:t>Decision Tree (M2)</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400" dirty="0">
                          <a:solidFill>
                            <a:srgbClr val="1F2A1F"/>
                          </a:solidFill>
                        </a:rPr>
                        <a:t>max_depth 14, min_samples_leaf 3 (baseline)</a:t>
                      </a:r>
                      <a:endParaRPr lang="en-US" sz="1400" dirty="0"/>
                    </a:p>
                  </a:txBody>
                  <a:tcPr marL="76200" marR="762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bl>
          </a:graphicData>
        </a:graphic>
      </p:graphicFrame>
      <p:sp>
        <p:nvSpPr>
          <p:cNvPr id="4" name="Files card"/>
          <p:cNvSpPr/>
          <p:nvPr/>
        </p:nvSpPr>
        <p:spPr>
          <a:xfrm>
            <a:off x="548640" y="5486400"/>
            <a:ext cx="11109960" cy="685800"/>
          </a:xfrm>
          <a:prstGeom prst="roundRect">
            <a:avLst>
              <a:gd name="adj" fmla="val 10667"/>
            </a:avLst>
          </a:prstGeom>
          <a:solidFill>
            <a:schemeClr val="bg2"/>
          </a:solidFill>
          <a:ln/>
        </p:spPr>
      </p:sp>
      <p:sp>
        <p:nvSpPr>
          <p:cNvPr id="5" name="Files text"/>
          <p:cNvSpPr txBox="1"/>
          <p:nvPr/>
        </p:nvSpPr>
        <p:spPr>
          <a:xfrm>
            <a:off x="777240" y="5486400"/>
            <a:ext cx="10744200" cy="685800"/>
          </a:xfrm>
          <a:prstGeom prst="rect">
            <a:avLst/>
          </a:prstGeom>
          <a:noFill/>
          <a:ln/>
        </p:spPr>
        <p:txBody>
          <a:bodyPr wrap="square" lIns="0" tIns="0" rIns="0" bIns="0" rtlCol="0" anchor="ctr"/>
          <a:lstStyle/>
          <a:p>
            <a:pPr indent="0" marL="0">
              <a:buNone/>
            </a:pPr>
            <a:r>
              <a:rPr lang="en-US" sz="1300" b="1" dirty="0">
                <a:solidFill>
                  <a:schemeClr val="accent1"/>
                </a:solidFill>
              </a:rPr>
              <a:t>Project code  </a:t>
            </a:r>
            <a:pPr indent="0" marL="0">
              <a:buNone/>
            </a:pPr>
            <a:r>
              <a:rPr lang="en-US" sz="1300" dirty="0">
                <a:solidFill>
                  <a:schemeClr val="tx1"/>
                </a:solidFill>
              </a:rPr>
              <a:t>src/ (8 modules) · main.py (end-to-end run, ~2 min) · predict.py (CLI app) · Smart_Fertilizer_Project.ipynb · tests/ (13 tests)</a:t>
            </a:r>
            <a:endParaRPr lang="en-US" sz="1300" dirty="0"/>
          </a:p>
        </p:txBody>
      </p:sp>
      <p:sp>
        <p:nvSpPr>
          <p:cNvPr id="6" name="Code card"/>
          <p:cNvSpPr/>
          <p:nvPr/>
        </p:nvSpPr>
        <p:spPr>
          <a:xfrm>
            <a:off x="7132320" y="1280160"/>
            <a:ext cx="4526280" cy="2331720"/>
          </a:xfrm>
          <a:prstGeom prst="roundRect">
            <a:avLst>
              <a:gd name="adj" fmla="val 3922"/>
            </a:avLst>
          </a:prstGeom>
          <a:solidFill>
            <a:schemeClr val="tx2"/>
          </a:solidFill>
          <a:ln/>
        </p:spPr>
      </p:sp>
      <p:sp>
        <p:nvSpPr>
          <p:cNvPr id="7" name="Code title"/>
          <p:cNvSpPr txBox="1"/>
          <p:nvPr/>
        </p:nvSpPr>
        <p:spPr>
          <a:xfrm>
            <a:off x="7360920" y="1371600"/>
            <a:ext cx="4114800" cy="320040"/>
          </a:xfrm>
          <a:prstGeom prst="rect">
            <a:avLst/>
          </a:prstGeom>
          <a:noFill/>
          <a:ln/>
        </p:spPr>
        <p:txBody>
          <a:bodyPr wrap="square" lIns="0" tIns="0" rIns="0" bIns="0" rtlCol="0" anchor="ctr"/>
          <a:lstStyle/>
          <a:p>
            <a:pPr indent="0" marL="0">
              <a:buNone/>
            </a:pPr>
            <a:r>
              <a:rPr lang="en-US" sz="1200" b="1" dirty="0">
                <a:solidFill>
                  <a:schemeClr val="accent2"/>
                </a:solidFill>
              </a:rPr>
              <a:t>Pipeline integration · src/pipeline.py</a:t>
            </a:r>
            <a:endParaRPr lang="en-US" sz="1200" dirty="0"/>
          </a:p>
        </p:txBody>
      </p:sp>
      <p:sp>
        <p:nvSpPr>
          <p:cNvPr id="8" name="Code text"/>
          <p:cNvSpPr txBox="1"/>
          <p:nvPr/>
        </p:nvSpPr>
        <p:spPr>
          <a:xfrm>
            <a:off x="7360920" y="1737360"/>
            <a:ext cx="4206240" cy="178308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rate = module1.predict(field)        # % / day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X['predicted_release_rate'] = rate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X['synchrony_index'] = (80 / rate) / days_left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product = xgb_type.predict(X)        # step 1</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X['fertilizer_type'] = product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amount = xgb_amount.predict(X)       # step 2</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timing = xgb_timing.predict(X)</a:t>
            </a:r>
            <a:endParaRPr lang="en-US" sz="1150" dirty="0"/>
          </a:p>
        </p:txBody>
      </p:sp>
      <p:sp>
        <p:nvSpPr>
          <p:cNvPr id="9" name="Tools header"/>
          <p:cNvSpPr txBox="1"/>
          <p:nvPr/>
        </p:nvSpPr>
        <p:spPr>
          <a:xfrm>
            <a:off x="7132320" y="3794760"/>
            <a:ext cx="448056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TOOLS &amp; LIBRARIES</a:t>
            </a:r>
            <a:endParaRPr lang="en-US" sz="1100" dirty="0"/>
          </a:p>
        </p:txBody>
      </p:sp>
      <p:sp>
        <p:nvSpPr>
          <p:cNvPr id="10" name="Tool chip 1"/>
          <p:cNvSpPr/>
          <p:nvPr/>
        </p:nvSpPr>
        <p:spPr>
          <a:xfrm>
            <a:off x="7132320" y="4160520"/>
            <a:ext cx="1069848" cy="457200"/>
          </a:xfrm>
          <a:prstGeom prst="roundRect">
            <a:avLst>
              <a:gd name="adj" fmla="val 50000"/>
            </a:avLst>
          </a:prstGeom>
          <a:solidFill>
            <a:schemeClr val="bg2"/>
          </a:solidFill>
          <a:ln w="12700">
            <a:solidFill>
              <a:schemeClr val="accent2"/>
            </a:solidFill>
            <a:prstDash val="solid"/>
          </a:ln>
        </p:spPr>
      </p:sp>
      <p:sp>
        <p:nvSpPr>
          <p:cNvPr id="11" name="Tool text 1"/>
          <p:cNvSpPr txBox="1"/>
          <p:nvPr/>
        </p:nvSpPr>
        <p:spPr>
          <a:xfrm>
            <a:off x="7132320" y="4160520"/>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Python 3.9</a:t>
            </a:r>
            <a:endParaRPr lang="en-US" sz="1100" dirty="0"/>
          </a:p>
        </p:txBody>
      </p:sp>
      <p:sp>
        <p:nvSpPr>
          <p:cNvPr id="12" name="Tool chip 2"/>
          <p:cNvSpPr/>
          <p:nvPr/>
        </p:nvSpPr>
        <p:spPr>
          <a:xfrm>
            <a:off x="8279892" y="4160520"/>
            <a:ext cx="1069848" cy="457200"/>
          </a:xfrm>
          <a:prstGeom prst="roundRect">
            <a:avLst>
              <a:gd name="adj" fmla="val 50000"/>
            </a:avLst>
          </a:prstGeom>
          <a:solidFill>
            <a:schemeClr val="bg2"/>
          </a:solidFill>
          <a:ln w="12700">
            <a:solidFill>
              <a:schemeClr val="accent2"/>
            </a:solidFill>
            <a:prstDash val="solid"/>
          </a:ln>
        </p:spPr>
      </p:sp>
      <p:sp>
        <p:nvSpPr>
          <p:cNvPr id="13" name="Tool text 2"/>
          <p:cNvSpPr txBox="1"/>
          <p:nvPr/>
        </p:nvSpPr>
        <p:spPr>
          <a:xfrm>
            <a:off x="8279892" y="4160520"/>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pandas 2.3</a:t>
            </a:r>
            <a:endParaRPr lang="en-US" sz="1100" dirty="0"/>
          </a:p>
        </p:txBody>
      </p:sp>
      <p:sp>
        <p:nvSpPr>
          <p:cNvPr id="14" name="Tool chip 3"/>
          <p:cNvSpPr/>
          <p:nvPr/>
        </p:nvSpPr>
        <p:spPr>
          <a:xfrm>
            <a:off x="9427464" y="4160520"/>
            <a:ext cx="1069848" cy="457200"/>
          </a:xfrm>
          <a:prstGeom prst="roundRect">
            <a:avLst>
              <a:gd name="adj" fmla="val 50000"/>
            </a:avLst>
          </a:prstGeom>
          <a:solidFill>
            <a:schemeClr val="bg2"/>
          </a:solidFill>
          <a:ln w="12700">
            <a:solidFill>
              <a:schemeClr val="accent2"/>
            </a:solidFill>
            <a:prstDash val="solid"/>
          </a:ln>
        </p:spPr>
      </p:sp>
      <p:sp>
        <p:nvSpPr>
          <p:cNvPr id="15" name="Tool text 3"/>
          <p:cNvSpPr txBox="1"/>
          <p:nvPr/>
        </p:nvSpPr>
        <p:spPr>
          <a:xfrm>
            <a:off x="9427464" y="4160520"/>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NumPy 2.0</a:t>
            </a:r>
            <a:endParaRPr lang="en-US" sz="1100" dirty="0"/>
          </a:p>
        </p:txBody>
      </p:sp>
      <p:sp>
        <p:nvSpPr>
          <p:cNvPr id="16" name="Tool chip 4"/>
          <p:cNvSpPr/>
          <p:nvPr/>
        </p:nvSpPr>
        <p:spPr>
          <a:xfrm>
            <a:off x="10575036" y="4160520"/>
            <a:ext cx="1069848" cy="457200"/>
          </a:xfrm>
          <a:prstGeom prst="roundRect">
            <a:avLst>
              <a:gd name="adj" fmla="val 50000"/>
            </a:avLst>
          </a:prstGeom>
          <a:solidFill>
            <a:schemeClr val="bg2"/>
          </a:solidFill>
          <a:ln w="12700">
            <a:solidFill>
              <a:schemeClr val="accent2"/>
            </a:solidFill>
            <a:prstDash val="solid"/>
          </a:ln>
        </p:spPr>
      </p:sp>
      <p:sp>
        <p:nvSpPr>
          <p:cNvPr id="17" name="Tool text 4"/>
          <p:cNvSpPr txBox="1"/>
          <p:nvPr/>
        </p:nvSpPr>
        <p:spPr>
          <a:xfrm>
            <a:off x="10575036" y="4160520"/>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scikit-learn 1.6</a:t>
            </a:r>
            <a:endParaRPr lang="en-US" sz="1100" dirty="0"/>
          </a:p>
        </p:txBody>
      </p:sp>
      <p:sp>
        <p:nvSpPr>
          <p:cNvPr id="18" name="Tool chip 5"/>
          <p:cNvSpPr/>
          <p:nvPr/>
        </p:nvSpPr>
        <p:spPr>
          <a:xfrm>
            <a:off x="7132320" y="4727448"/>
            <a:ext cx="1069848" cy="457200"/>
          </a:xfrm>
          <a:prstGeom prst="roundRect">
            <a:avLst>
              <a:gd name="adj" fmla="val 50000"/>
            </a:avLst>
          </a:prstGeom>
          <a:solidFill>
            <a:schemeClr val="bg2"/>
          </a:solidFill>
          <a:ln w="12700">
            <a:solidFill>
              <a:schemeClr val="accent2"/>
            </a:solidFill>
            <a:prstDash val="solid"/>
          </a:ln>
        </p:spPr>
      </p:sp>
      <p:sp>
        <p:nvSpPr>
          <p:cNvPr id="19" name="Tool text 5"/>
          <p:cNvSpPr txBox="1"/>
          <p:nvPr/>
        </p:nvSpPr>
        <p:spPr>
          <a:xfrm>
            <a:off x="7132320" y="4727448"/>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XGBoost 2.1</a:t>
            </a:r>
            <a:endParaRPr lang="en-US" sz="1100" dirty="0"/>
          </a:p>
        </p:txBody>
      </p:sp>
      <p:sp>
        <p:nvSpPr>
          <p:cNvPr id="20" name="Tool chip 6"/>
          <p:cNvSpPr/>
          <p:nvPr/>
        </p:nvSpPr>
        <p:spPr>
          <a:xfrm>
            <a:off x="8279892" y="4727448"/>
            <a:ext cx="1069848" cy="457200"/>
          </a:xfrm>
          <a:prstGeom prst="roundRect">
            <a:avLst>
              <a:gd name="adj" fmla="val 50000"/>
            </a:avLst>
          </a:prstGeom>
          <a:solidFill>
            <a:schemeClr val="bg2"/>
          </a:solidFill>
          <a:ln w="12700">
            <a:solidFill>
              <a:schemeClr val="accent2"/>
            </a:solidFill>
            <a:prstDash val="solid"/>
          </a:ln>
        </p:spPr>
      </p:sp>
      <p:sp>
        <p:nvSpPr>
          <p:cNvPr id="21" name="Tool text 6"/>
          <p:cNvSpPr txBox="1"/>
          <p:nvPr/>
        </p:nvSpPr>
        <p:spPr>
          <a:xfrm>
            <a:off x="8279892" y="4727448"/>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Matplotlib 3.9</a:t>
            </a:r>
            <a:endParaRPr lang="en-US" sz="1100" dirty="0"/>
          </a:p>
        </p:txBody>
      </p:sp>
      <p:sp>
        <p:nvSpPr>
          <p:cNvPr id="22" name="Tool chip 7"/>
          <p:cNvSpPr/>
          <p:nvPr/>
        </p:nvSpPr>
        <p:spPr>
          <a:xfrm>
            <a:off x="9427464" y="4727448"/>
            <a:ext cx="1069848" cy="457200"/>
          </a:xfrm>
          <a:prstGeom prst="roundRect">
            <a:avLst>
              <a:gd name="adj" fmla="val 50000"/>
            </a:avLst>
          </a:prstGeom>
          <a:solidFill>
            <a:schemeClr val="bg2"/>
          </a:solidFill>
          <a:ln w="12700">
            <a:solidFill>
              <a:schemeClr val="accent2"/>
            </a:solidFill>
            <a:prstDash val="solid"/>
          </a:ln>
        </p:spPr>
      </p:sp>
      <p:sp>
        <p:nvSpPr>
          <p:cNvPr id="23" name="Tool text 7"/>
          <p:cNvSpPr txBox="1"/>
          <p:nvPr/>
        </p:nvSpPr>
        <p:spPr>
          <a:xfrm>
            <a:off x="9427464" y="4727448"/>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joblib</a:t>
            </a:r>
            <a:endParaRPr lang="en-US" sz="1100" dirty="0"/>
          </a:p>
        </p:txBody>
      </p:sp>
      <p:sp>
        <p:nvSpPr>
          <p:cNvPr id="24" name="Tool chip 8"/>
          <p:cNvSpPr/>
          <p:nvPr/>
        </p:nvSpPr>
        <p:spPr>
          <a:xfrm>
            <a:off x="10575036" y="4727448"/>
            <a:ext cx="1069848" cy="457200"/>
          </a:xfrm>
          <a:prstGeom prst="roundRect">
            <a:avLst>
              <a:gd name="adj" fmla="val 50000"/>
            </a:avLst>
          </a:prstGeom>
          <a:solidFill>
            <a:schemeClr val="bg2"/>
          </a:solidFill>
          <a:ln w="12700">
            <a:solidFill>
              <a:schemeClr val="accent2"/>
            </a:solidFill>
            <a:prstDash val="solid"/>
          </a:ln>
        </p:spPr>
      </p:sp>
      <p:sp>
        <p:nvSpPr>
          <p:cNvPr id="25" name="Tool text 8"/>
          <p:cNvSpPr txBox="1"/>
          <p:nvPr/>
        </p:nvSpPr>
        <p:spPr>
          <a:xfrm>
            <a:off x="10575036" y="4727448"/>
            <a:ext cx="1069848" cy="457200"/>
          </a:xfrm>
          <a:prstGeom prst="rect">
            <a:avLst/>
          </a:prstGeom>
          <a:noFill/>
          <a:ln/>
        </p:spPr>
        <p:txBody>
          <a:bodyPr wrap="square" lIns="0" tIns="0" rIns="0" bIns="0" rtlCol="0" anchor="ctr"/>
          <a:lstStyle/>
          <a:p>
            <a:pPr algn="ctr" indent="0" marL="0">
              <a:buNone/>
            </a:pPr>
            <a:r>
              <a:rPr lang="en-US" sz="1100" dirty="0">
                <a:solidFill>
                  <a:schemeClr val="tx1"/>
                </a:solidFill>
              </a:rPr>
              <a:t>pytest</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Results: Module 1, Nutrient Release</a:t>
            </a:r>
            <a:endParaRPr lang="en-US" sz="3400" dirty="0"/>
          </a:p>
        </p:txBody>
      </p:sp>
      <p:graphicFrame>
        <p:nvGraphicFramePr>
          <p:cNvPr id="3" name="M1 R2 chart" descr=""/>
          <p:cNvGraphicFramePr/>
          <p:nvPr/>
        </p:nvGraphicFramePr>
        <p:xfrm>
          <a:off x="548640" y="1234440"/>
          <a:ext cx="6583680" cy="4343400"/>
        </p:xfrm>
        <a:graphic xmlns:a="http://schemas.openxmlformats.org/drawingml/2006/main">
          <a:graphicData uri="http://schemas.openxmlformats.org/drawingml/2006/chart">
            <c:chart xmlns:c="http://schemas.openxmlformats.org/drawingml/2006/chart" r:id="rId1"/>
          </a:graphicData>
        </a:graphic>
      </p:graphicFrame>
      <p:sp>
        <p:nvSpPr>
          <p:cNvPr id="4" name="M1 caption"/>
          <p:cNvSpPr txBox="1"/>
          <p:nvPr/>
        </p:nvSpPr>
        <p:spPr>
          <a:xfrm>
            <a:off x="548640" y="5669280"/>
            <a:ext cx="6583680" cy="457200"/>
          </a:xfrm>
          <a:prstGeom prst="rect">
            <a:avLst/>
          </a:prstGeom>
          <a:noFill/>
          <a:ln/>
        </p:spPr>
        <p:txBody>
          <a:bodyPr wrap="square" lIns="0" tIns="0" rIns="0" bIns="0" rtlCol="0" anchor="ctr"/>
          <a:lstStyle/>
          <a:p>
            <a:pPr indent="0" marL="0">
              <a:buNone/>
            </a:pPr>
            <a:r>
              <a:rPr lang="en-US" sz="1200" dirty="0">
                <a:solidFill>
                  <a:schemeClr val="accent5"/>
                </a:solidFill>
              </a:rPr>
              <a:t>Evaluated on the 20% held-out test set (2,200 rows); best model chosen by 5-fold CV R².</a:t>
            </a:r>
            <a:endParaRPr lang="en-US" sz="1200" dirty="0"/>
          </a:p>
        </p:txBody>
      </p:sp>
      <p:sp>
        <p:nvSpPr>
          <p:cNvPr id="5" name="Best card 1"/>
          <p:cNvSpPr/>
          <p:nvPr/>
        </p:nvSpPr>
        <p:spPr>
          <a:xfrm>
            <a:off x="7406640" y="1280160"/>
            <a:ext cx="4233672" cy="1298448"/>
          </a:xfrm>
          <a:prstGeom prst="roundRect">
            <a:avLst>
              <a:gd name="adj" fmla="val 7042"/>
            </a:avLst>
          </a:prstGeom>
          <a:solidFill>
            <a:schemeClr val="bg2"/>
          </a:solidFill>
          <a:ln/>
        </p:spPr>
      </p:sp>
      <p:sp>
        <p:nvSpPr>
          <p:cNvPr id="6" name="Best text 1"/>
          <p:cNvSpPr txBox="1"/>
          <p:nvPr/>
        </p:nvSpPr>
        <p:spPr>
          <a:xfrm>
            <a:off x="7589520" y="1280160"/>
            <a:ext cx="3931920" cy="1298448"/>
          </a:xfrm>
          <a:prstGeom prst="rect">
            <a:avLst/>
          </a:prstGeom>
          <a:noFill/>
          <a:ln/>
        </p:spPr>
        <p:txBody>
          <a:bodyPr wrap="square" lIns="0" tIns="0" rIns="0" bIns="0" rtlCol="0" anchor="ctr"/>
          <a:lstStyle/>
          <a:p>
            <a:pPr indent="0" marL="0">
              <a:spcAft>
                <a:spcPts val="300"/>
              </a:spcAft>
              <a:buNone/>
            </a:pPr>
            <a:r>
              <a:rPr lang="en-US" sz="1200" b="1" dirty="0">
                <a:solidFill>
                  <a:schemeClr val="accent5"/>
                </a:solidFill>
              </a:rPr>
              <a:t>Release rate (% per day)</a:t>
            </a:r>
            <a:endParaRPr lang="en-US" sz="1200" dirty="0"/>
          </a:p>
          <a:p>
            <a:pPr indent="0" marL="0">
              <a:spcAft>
                <a:spcPts val="300"/>
              </a:spcAft>
              <a:buNone/>
            </a:pPr>
            <a:r>
              <a:rPr lang="en-US" sz="1800" b="1" dirty="0">
                <a:solidFill>
                  <a:schemeClr val="tx2"/>
                </a:solidFill>
                <a:latin typeface="Cambria" pitchFamily="34" charset="0"/>
                <a:ea typeface="Cambria" pitchFamily="34" charset="-122"/>
                <a:cs typeface="Cambria" pitchFamily="34" charset="-120"/>
              </a:rPr>
              <a:t>Best: Polynomial LR (deg 3)</a:t>
            </a:r>
            <a:endParaRPr lang="en-US" sz="1200" dirty="0"/>
          </a:p>
          <a:p>
            <a:pPr indent="0" marL="0">
              <a:spcAft>
                <a:spcPts val="300"/>
              </a:spcAft>
              <a:buNone/>
            </a:pPr>
            <a:r>
              <a:rPr lang="en-US" sz="1400" dirty="0">
                <a:solidFill>
                  <a:schemeClr val="tx1"/>
                </a:solidFill>
              </a:rPr>
              <a:t>R² 0.981  ·  RMSE 0.124  ·  MAE 0.087</a:t>
            </a:r>
            <a:endParaRPr lang="en-US" sz="1200" dirty="0"/>
          </a:p>
        </p:txBody>
      </p:sp>
      <p:sp>
        <p:nvSpPr>
          <p:cNvPr id="7" name="Best card 2"/>
          <p:cNvSpPr/>
          <p:nvPr/>
        </p:nvSpPr>
        <p:spPr>
          <a:xfrm>
            <a:off x="7406640" y="2743200"/>
            <a:ext cx="4233672" cy="1298448"/>
          </a:xfrm>
          <a:prstGeom prst="roundRect">
            <a:avLst>
              <a:gd name="adj" fmla="val 7042"/>
            </a:avLst>
          </a:prstGeom>
          <a:solidFill>
            <a:schemeClr val="bg2"/>
          </a:solidFill>
          <a:ln/>
        </p:spPr>
      </p:sp>
      <p:sp>
        <p:nvSpPr>
          <p:cNvPr id="8" name="Best text 2"/>
          <p:cNvSpPr txBox="1"/>
          <p:nvPr/>
        </p:nvSpPr>
        <p:spPr>
          <a:xfrm>
            <a:off x="7589520" y="2743200"/>
            <a:ext cx="3931920" cy="1298448"/>
          </a:xfrm>
          <a:prstGeom prst="rect">
            <a:avLst/>
          </a:prstGeom>
          <a:noFill/>
          <a:ln/>
        </p:spPr>
        <p:txBody>
          <a:bodyPr wrap="square" lIns="0" tIns="0" rIns="0" bIns="0" rtlCol="0" anchor="ctr"/>
          <a:lstStyle/>
          <a:p>
            <a:pPr indent="0" marL="0">
              <a:spcAft>
                <a:spcPts val="300"/>
              </a:spcAft>
              <a:buNone/>
            </a:pPr>
            <a:r>
              <a:rPr lang="en-US" sz="1200" b="1" dirty="0">
                <a:solidFill>
                  <a:schemeClr val="accent5"/>
                </a:solidFill>
              </a:rPr>
              <a:t>Cumulative release (%)</a:t>
            </a:r>
            <a:endParaRPr lang="en-US" sz="1200" dirty="0"/>
          </a:p>
          <a:p>
            <a:pPr indent="0" marL="0">
              <a:spcAft>
                <a:spcPts val="300"/>
              </a:spcAft>
              <a:buNone/>
            </a:pPr>
            <a:r>
              <a:rPr lang="en-US" sz="1800" b="1" dirty="0">
                <a:solidFill>
                  <a:schemeClr val="tx2"/>
                </a:solidFill>
                <a:latin typeface="Cambria" pitchFamily="34" charset="0"/>
                <a:ea typeface="Cambria" pitchFamily="34" charset="-122"/>
                <a:cs typeface="Cambria" pitchFamily="34" charset="-120"/>
              </a:rPr>
              <a:t>Best: Random Forest</a:t>
            </a:r>
            <a:endParaRPr lang="en-US" sz="1200" dirty="0"/>
          </a:p>
          <a:p>
            <a:pPr indent="0" marL="0">
              <a:spcAft>
                <a:spcPts val="300"/>
              </a:spcAft>
              <a:buNone/>
            </a:pPr>
            <a:r>
              <a:rPr lang="en-US" sz="1400" dirty="0">
                <a:solidFill>
                  <a:schemeClr val="tx1"/>
                </a:solidFill>
              </a:rPr>
              <a:t>R² 0.987  ·  RMSE 3.96  ·  MAE 2.66</a:t>
            </a:r>
            <a:endParaRPr lang="en-US" sz="1200" dirty="0"/>
          </a:p>
        </p:txBody>
      </p:sp>
      <p:sp>
        <p:nvSpPr>
          <p:cNvPr id="9" name="M1 insight"/>
          <p:cNvSpPr txBox="1"/>
          <p:nvPr/>
        </p:nvSpPr>
        <p:spPr>
          <a:xfrm>
            <a:off x="7406640" y="4251960"/>
            <a:ext cx="4233672" cy="1783080"/>
          </a:xfrm>
          <a:prstGeom prst="rect">
            <a:avLst/>
          </a:prstGeom>
          <a:noFill/>
          <a:ln/>
        </p:spPr>
        <p:txBody>
          <a:bodyPr wrap="square" lIns="0" tIns="0" rIns="0" bIns="0" rtlCol="0" anchor="t"/>
          <a:lstStyle/>
          <a:p>
            <a:pPr indent="0" marL="0">
              <a:spcAft>
                <a:spcPts val="500"/>
              </a:spcAft>
              <a:buNone/>
            </a:pPr>
            <a:r>
              <a:rPr lang="en-US" sz="1500" b="1" dirty="0">
                <a:solidFill>
                  <a:schemeClr val="accent1"/>
                </a:solidFill>
              </a:rPr>
              <a:t>What the results show</a:t>
            </a:r>
            <a:endParaRPr lang="en-US" sz="1400" dirty="0"/>
          </a:p>
          <a:p>
            <a:pPr marL="342900" indent="-342900">
              <a:spcAft>
                <a:spcPts val="500"/>
              </a:spcAft>
              <a:buSzPct val="100000"/>
              <a:buChar char="•"/>
            </a:pPr>
            <a:r>
              <a:rPr lang="en-US" sz="1400" dirty="0">
                <a:solidFill>
                  <a:schemeClr val="tx1"/>
                </a:solidFill>
              </a:rPr>
              <a:t>Plain linear regression underfits (R² 0.811): temperature acts exponentially</a:t>
            </a:r>
            <a:endParaRPr lang="en-US" sz="1400" dirty="0"/>
          </a:p>
          <a:p>
            <a:pPr marL="342900" indent="-342900">
              <a:spcAft>
                <a:spcPts val="500"/>
              </a:spcAft>
              <a:buSzPct val="100000"/>
              <a:buChar char="•"/>
            </a:pPr>
            <a:r>
              <a:rPr lang="en-US" sz="1400" dirty="0">
                <a:solidFill>
                  <a:schemeClr val="tx1"/>
                </a:solidFill>
              </a:rPr>
              <a:t>Coating thickness (57%) and soil temperature (40%) drive release-rate predictions</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Results: Module 2, Recommendation Engine</a:t>
            </a:r>
            <a:endParaRPr lang="en-US" sz="3400" dirty="0"/>
          </a:p>
        </p:txBody>
      </p:sp>
      <p:graphicFrame>
        <p:nvGraphicFramePr>
          <p:cNvPr id="3" name="M2 chart" descr=""/>
          <p:cNvGraphicFramePr/>
          <p:nvPr/>
        </p:nvGraphicFramePr>
        <p:xfrm>
          <a:off x="548640" y="1234440"/>
          <a:ext cx="6035040" cy="4114800"/>
        </p:xfrm>
        <a:graphic xmlns:a="http://schemas.openxmlformats.org/drawingml/2006/main">
          <a:graphicData uri="http://schemas.openxmlformats.org/drawingml/2006/chart">
            <c:chart xmlns:c="http://schemas.openxmlformats.org/drawingml/2006/chart" r:id="rId1"/>
          </a:graphicData>
        </a:graphic>
      </p:graphicFrame>
      <p:pic>
        <p:nvPicPr>
          <p:cNvPr id="4" name="Confusion matrix" descr="XGBoost fertilizer-type confusion matrix on the test set">    </p:cNvPr>
          <p:cNvPicPr>
            <a:picLocks noChangeAspect="1"/>
          </p:cNvPicPr>
          <p:nvPr/>
        </p:nvPicPr>
        <p:blipFill>
          <a:blip r:embed="rId2"/>
          <a:stretch>
            <a:fillRect/>
          </a:stretch>
        </p:blipFill>
        <p:spPr>
          <a:xfrm>
            <a:off x="6812280" y="1188720"/>
            <a:ext cx="4846320" cy="3944679"/>
          </a:xfrm>
          <a:prstGeom prst="rect">
            <a:avLst/>
          </a:prstGeom>
        </p:spPr>
      </p:pic>
      <p:sp>
        <p:nvSpPr>
          <p:cNvPr id="5" name="Best M2 card"/>
          <p:cNvSpPr/>
          <p:nvPr/>
        </p:nvSpPr>
        <p:spPr>
          <a:xfrm>
            <a:off x="548640" y="5440680"/>
            <a:ext cx="6035040" cy="777240"/>
          </a:xfrm>
          <a:prstGeom prst="roundRect">
            <a:avLst>
              <a:gd name="adj" fmla="val 9412"/>
            </a:avLst>
          </a:prstGeom>
          <a:solidFill>
            <a:schemeClr val="accent1"/>
          </a:solidFill>
          <a:ln/>
        </p:spPr>
      </p:sp>
      <p:sp>
        <p:nvSpPr>
          <p:cNvPr id="6" name="Best M2 text"/>
          <p:cNvSpPr txBox="1"/>
          <p:nvPr/>
        </p:nvSpPr>
        <p:spPr>
          <a:xfrm>
            <a:off x="731520" y="5440680"/>
            <a:ext cx="5760720" cy="777240"/>
          </a:xfrm>
          <a:prstGeom prst="rect">
            <a:avLst/>
          </a:prstGeom>
          <a:noFill/>
          <a:ln/>
        </p:spPr>
        <p:txBody>
          <a:bodyPr wrap="square" lIns="0" tIns="0" rIns="0" bIns="0" rtlCol="0" anchor="ctr"/>
          <a:lstStyle/>
          <a:p>
            <a:pPr indent="0" marL="0">
              <a:buNone/>
            </a:pPr>
            <a:r>
              <a:rPr lang="en-US" sz="1300" b="1" dirty="0">
                <a:solidFill>
                  <a:schemeClr val="bg1"/>
                </a:solidFill>
              </a:rPr>
              <a:t>Best model: XGBoost. </a:t>
            </a:r>
            <a:pPr indent="0" marL="0">
              <a:buNone/>
            </a:pPr>
            <a:r>
              <a:rPr lang="en-US" sz="1300" dirty="0">
                <a:solidFill>
                  <a:schemeClr val="bg1"/>
                </a:solidFill>
              </a:rPr>
              <a:t>Highest 5-fold CV score on all three targets; 85.7% accuracy vs a 88.4% ceiling set by label noise.</a:t>
            </a:r>
            <a:endParaRPr lang="en-US" sz="1300" dirty="0"/>
          </a:p>
        </p:txBody>
      </p:sp>
      <p:sp>
        <p:nvSpPr>
          <p:cNvPr id="7" name="CM caption"/>
          <p:cNvSpPr txBox="1"/>
          <p:nvPr/>
        </p:nvSpPr>
        <p:spPr>
          <a:xfrm>
            <a:off x="6812280" y="5440680"/>
            <a:ext cx="4846320" cy="731520"/>
          </a:xfrm>
          <a:prstGeom prst="rect">
            <a:avLst/>
          </a:prstGeom>
          <a:noFill/>
          <a:ln/>
        </p:spPr>
        <p:txBody>
          <a:bodyPr wrap="square" lIns="0" tIns="0" rIns="0" bIns="0" rtlCol="0" anchor="ctr"/>
          <a:lstStyle/>
          <a:p>
            <a:pPr indent="0" marL="0">
              <a:buNone/>
            </a:pPr>
            <a:r>
              <a:rPr lang="en-US" sz="1200" dirty="0">
                <a:solidFill>
                  <a:schemeClr val="accent5"/>
                </a:solidFill>
              </a:rPr>
              <a:t>Most errors are between neighbouring coat grades or with the general NPK product.</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Results: Existing Static System vs Proposed</a:t>
            </a:r>
            <a:endParaRPr lang="en-US" sz="3400" dirty="0"/>
          </a:p>
        </p:txBody>
      </p:sp>
      <p:sp>
        <p:nvSpPr>
          <p:cNvPr id="3" name="Reduction stat"/>
          <p:cNvSpPr txBox="1"/>
          <p:nvPr/>
        </p:nvSpPr>
        <p:spPr>
          <a:xfrm>
            <a:off x="548640" y="1234440"/>
            <a:ext cx="3931920" cy="1143000"/>
          </a:xfrm>
          <a:prstGeom prst="rect">
            <a:avLst/>
          </a:prstGeom>
          <a:noFill/>
          <a:ln/>
        </p:spPr>
        <p:txBody>
          <a:bodyPr wrap="square" lIns="0" tIns="0" rIns="0" bIns="0" rtlCol="0" anchor="ctr"/>
          <a:lstStyle/>
          <a:p>
            <a:pPr indent="0" marL="0">
              <a:buNone/>
            </a:pPr>
            <a:r>
              <a:rPr lang="en-US" sz="7200" b="1" dirty="0">
                <a:solidFill>
                  <a:schemeClr val="accent1"/>
                </a:solidFill>
                <a:latin typeface="Cambria" pitchFamily="34" charset="0"/>
                <a:ea typeface="Cambria" pitchFamily="34" charset="-122"/>
                <a:cs typeface="Cambria" pitchFamily="34" charset="-120"/>
              </a:rPr>
              <a:t>82%</a:t>
            </a:r>
            <a:endParaRPr lang="en-US" sz="7200" dirty="0"/>
          </a:p>
        </p:txBody>
      </p:sp>
      <p:sp>
        <p:nvSpPr>
          <p:cNvPr id="4" name="Reduction caption"/>
          <p:cNvSpPr txBox="1"/>
          <p:nvPr/>
        </p:nvSpPr>
        <p:spPr>
          <a:xfrm>
            <a:off x="548640" y="2377440"/>
            <a:ext cx="3931920" cy="914400"/>
          </a:xfrm>
          <a:prstGeom prst="rect">
            <a:avLst/>
          </a:prstGeom>
          <a:noFill/>
          <a:ln/>
        </p:spPr>
        <p:txBody>
          <a:bodyPr wrap="square" lIns="0" tIns="0" rIns="0" bIns="0" rtlCol="0" anchor="t"/>
          <a:lstStyle/>
          <a:p>
            <a:pPr indent="0" marL="0">
              <a:buNone/>
            </a:pPr>
            <a:r>
              <a:rPr lang="en-US" sz="1500" dirty="0">
                <a:solidFill>
                  <a:schemeClr val="tx1"/>
                </a:solidFill>
              </a:rPr>
              <a:t>lower timing error for coated urea than the manufacturer's static 25 °C rating (22.4 → 4.0 days)</a:t>
            </a:r>
            <a:endParaRPr lang="en-US" sz="1500" dirty="0"/>
          </a:p>
        </p:txBody>
      </p:sp>
      <p:sp>
        <p:nvSpPr>
          <p:cNvPr id="5" name="Ablation card"/>
          <p:cNvSpPr/>
          <p:nvPr/>
        </p:nvSpPr>
        <p:spPr>
          <a:xfrm>
            <a:off x="548640" y="3520440"/>
            <a:ext cx="3931920" cy="2240280"/>
          </a:xfrm>
          <a:prstGeom prst="roundRect">
            <a:avLst>
              <a:gd name="adj" fmla="val 4082"/>
            </a:avLst>
          </a:prstGeom>
          <a:solidFill>
            <a:schemeClr val="bg2"/>
          </a:solidFill>
          <a:ln/>
        </p:spPr>
      </p:sp>
      <p:sp>
        <p:nvSpPr>
          <p:cNvPr id="6" name="Ablation text"/>
          <p:cNvSpPr txBox="1"/>
          <p:nvPr/>
        </p:nvSpPr>
        <p:spPr>
          <a:xfrm>
            <a:off x="777240" y="3749040"/>
            <a:ext cx="3566160" cy="228600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Does Module 1 matter? (ablation)</a:t>
            </a:r>
            <a:endParaRPr lang="en-US" sz="1500" dirty="0"/>
          </a:p>
          <a:p>
            <a:pPr marL="342900" indent="-342900">
              <a:spcAft>
                <a:spcPts val="800"/>
              </a:spcAft>
              <a:buSzPct val="100000"/>
              <a:buChar char="•"/>
            </a:pPr>
            <a:r>
              <a:rPr lang="en-US" sz="1500" dirty="0">
                <a:solidFill>
                  <a:schemeClr val="tx1"/>
                </a:solidFill>
              </a:rPr>
              <a:t>Coated-grade accuracy: 71% → 80%</a:t>
            </a:r>
            <a:endParaRPr lang="en-US" sz="1500" dirty="0"/>
          </a:p>
          <a:p>
            <a:pPr marL="342900" indent="-342900">
              <a:spcAft>
                <a:spcPts val="800"/>
              </a:spcAft>
              <a:buSzPct val="100000"/>
              <a:buChar char="•"/>
            </a:pPr>
            <a:r>
              <a:rPr lang="en-US" sz="1500" dirty="0">
                <a:solidFill>
                  <a:schemeClr val="tx1"/>
                </a:solidFill>
              </a:rPr>
              <a:t>Timing R²: 0.90 → 0.98</a:t>
            </a:r>
            <a:endParaRPr lang="en-US" sz="1500" dirty="0"/>
          </a:p>
          <a:p>
            <a:pPr marL="342900" indent="-342900">
              <a:spcAft>
                <a:spcPts val="800"/>
              </a:spcAft>
              <a:buSzPct val="100000"/>
              <a:buChar char="•"/>
            </a:pPr>
            <a:r>
              <a:rPr lang="en-US" sz="1500" dirty="0">
                <a:solidFill>
                  <a:schemeClr val="tx1"/>
                </a:solidFill>
              </a:rPr>
              <a:t>Type accuracy: 83.6% → 85.7%</a:t>
            </a:r>
            <a:endParaRPr lang="en-US" sz="1500" dirty="0"/>
          </a:p>
          <a:p>
            <a:pPr indent="0" marL="0">
              <a:spcAft>
                <a:spcPts val="800"/>
              </a:spcAft>
              <a:buNone/>
            </a:pPr>
            <a:r>
              <a:rPr lang="en-US" sz="1200" dirty="0">
                <a:solidFill>
                  <a:schemeClr val="accent5"/>
                </a:solidFill>
              </a:rPr>
              <a:t>Without → with Module 1's predicted release</a:t>
            </a:r>
            <a:endParaRPr lang="en-US" sz="1500" dirty="0"/>
          </a:p>
        </p:txBody>
      </p:sp>
      <p:graphicFrame>
        <p:nvGraphicFramePr>
          <p:cNvPr id="7" name="Static vs proposed chart" descr=""/>
          <p:cNvGraphicFramePr/>
          <p:nvPr/>
        </p:nvGraphicFramePr>
        <p:xfrm>
          <a:off x="4846320" y="1234440"/>
          <a:ext cx="68122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Comparison table"/>
          <p:cNvGraphicFramePr>
            <a:graphicFrameLocks noGrp="1"/>
          </p:cNvGraphicFramePr>
          <p:nvPr>
            <p:extLst>
              <p:ext uri="{D42A27DB-BD31-4B8C-83A1-F6EECF244321}">
                <p14:modId xmlns:p14="http://schemas.microsoft.com/office/powerpoint/2010/main" val="1579011935"/>
              </p:ext>
            </p:extLst>
          </p:nvPr>
        </p:nvGraphicFramePr>
        <p:xfrm>
          <a:off x="4846320" y="4846320"/>
          <a:ext cx="6812280" cy="914400"/>
        </p:xfrm>
        <a:graphic>
          <a:graphicData uri="http://schemas.openxmlformats.org/drawingml/2006/table">
            <a:tbl>
              <a:tblPr/>
              <a:tblGrid>
                <a:gridCol w="2514600"/>
                <a:gridCol w="1371600"/>
                <a:gridCol w="1554480"/>
                <a:gridCol w="1371600"/>
              </a:tblGrid>
              <a:tr h="0">
                <a:tc>
                  <a:txBody>
                    <a:bodyPr/>
                    <a:lstStyle/>
                    <a:p>
                      <a:pPr indent="0" marL="0">
                        <a:buNone/>
                      </a:pPr>
                      <a:r>
                        <a:rPr lang="en-US" sz="1200" b="1" dirty="0">
                          <a:solidFill>
                            <a:srgbClr val="FFFFFF"/>
                          </a:solidFill>
                        </a:rPr>
                        <a:t>System</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200" b="1" dirty="0">
                          <a:solidFill>
                            <a:srgbClr val="FFFFFF"/>
                          </a:solidFill>
                        </a:rPr>
                        <a:t>Timing MAE (all)</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200" b="1" dirty="0">
                          <a:solidFill>
                            <a:srgbClr val="FFFFFF"/>
                          </a:solidFill>
                        </a:rPr>
                        <a:t>Timing MAE (coated)</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c>
                  <a:txBody>
                    <a:bodyPr/>
                    <a:lstStyle/>
                    <a:p>
                      <a:pPr indent="0" marL="0">
                        <a:buNone/>
                      </a:pPr>
                      <a:r>
                        <a:rPr lang="en-US" sz="1200" b="1" dirty="0">
                          <a:solidFill>
                            <a:srgbClr val="FFFFFF"/>
                          </a:solidFill>
                        </a:rPr>
                        <a:t>Amount MAE</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2E5E2F"/>
                    </a:solidFill>
                  </a:tcPr>
                </a:tc>
              </a:tr>
              <a:tr h="0">
                <a:tc>
                  <a:txBody>
                    <a:bodyPr/>
                    <a:lstStyle/>
                    <a:p>
                      <a:pPr indent="0" marL="0">
                        <a:buNone/>
                      </a:pPr>
                      <a:r>
                        <a:rPr lang="en-US" sz="1200" dirty="0">
                          <a:solidFill>
                            <a:srgbClr val="1F2A1F"/>
                          </a:solidFill>
                        </a:rPr>
                        <a:t>Existing static system</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9.2 days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22.4 days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c>
                  <a:txBody>
                    <a:bodyPr/>
                    <a:lstStyle/>
                    <a:p>
                      <a:pPr indent="0" marL="0">
                        <a:buNone/>
                      </a:pPr>
                      <a:r>
                        <a:rPr lang="en-US" sz="1200" dirty="0">
                          <a:solidFill>
                            <a:srgbClr val="1F2A1F"/>
                          </a:solidFill>
                        </a:rPr>
                        <a:t>12.6 kg/ha</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1F5EC"/>
                    </a:solidFill>
                  </a:tcPr>
                </a:tc>
              </a:tr>
              <a:tr h="0">
                <a:tc>
                  <a:txBody>
                    <a:bodyPr/>
                    <a:lstStyle/>
                    <a:p>
                      <a:pPr indent="0" marL="0">
                        <a:buNone/>
                      </a:pPr>
                      <a:r>
                        <a:rPr lang="en-US" sz="1200" dirty="0">
                          <a:solidFill>
                            <a:srgbClr val="1F2A1F"/>
                          </a:solidFill>
                        </a:rPr>
                        <a:t>ML without Module 1</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4.4 days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8.4 days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c>
                  <a:txBody>
                    <a:bodyPr/>
                    <a:lstStyle/>
                    <a:p>
                      <a:pPr indent="0" marL="0">
                        <a:buNone/>
                      </a:pPr>
                      <a:r>
                        <a:rPr lang="en-US" sz="1200" dirty="0">
                          <a:solidFill>
                            <a:srgbClr val="1F2A1F"/>
                          </a:solidFill>
                        </a:rPr>
                        <a:t>9.0 kg/ha</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1F"/>
                          </a:solidFill>
                        </a:rPr>
                        <a:t>Proposed dual-module system</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D6E4C6"/>
                    </a:solidFill>
                  </a:tcPr>
                </a:tc>
                <a:tc>
                  <a:txBody>
                    <a:bodyPr/>
                    <a:lstStyle/>
                    <a:p>
                      <a:pPr indent="0" marL="0">
                        <a:buNone/>
                      </a:pPr>
                      <a:r>
                        <a:rPr lang="en-US" sz="1200" dirty="0">
                          <a:solidFill>
                            <a:srgbClr val="1F2A1F"/>
                          </a:solidFill>
                        </a:rPr>
                        <a:t>2.4 days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D6E4C6"/>
                    </a:solidFill>
                  </a:tcPr>
                </a:tc>
                <a:tc>
                  <a:txBody>
                    <a:bodyPr/>
                    <a:lstStyle/>
                    <a:p>
                      <a:pPr indent="0" marL="0">
                        <a:buNone/>
                      </a:pPr>
                      <a:r>
                        <a:rPr lang="en-US" sz="1200" dirty="0">
                          <a:solidFill>
                            <a:srgbClr val="1F2A1F"/>
                          </a:solidFill>
                        </a:rPr>
                        <a:t>4.0 days</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D6E4C6"/>
                    </a:solidFill>
                  </a:tcPr>
                </a:tc>
                <a:tc>
                  <a:txBody>
                    <a:bodyPr/>
                    <a:lstStyle/>
                    <a:p>
                      <a:pPr indent="0" marL="0">
                        <a:buNone/>
                      </a:pPr>
                      <a:r>
                        <a:rPr lang="en-US" sz="1200" dirty="0">
                          <a:solidFill>
                            <a:srgbClr val="1F2A1F"/>
                          </a:solidFill>
                        </a:rPr>
                        <a:t>8.4 kg/ha</a:t>
                      </a:r>
                      <a:endParaRPr lang="en-US" sz="1200" dirty="0"/>
                    </a:p>
                  </a:txBody>
                  <a:tcPr marL="63500" marR="63500" marT="38100" marB="38100" anchor="ctr">
                    <a:lnL w="9525" cap="flat" cmpd="sng" algn="ctr">
                      <a:solidFill>
                        <a:srgbClr val="D7DFCF"/>
                      </a:solidFill>
                      <a:prstDash val="solid"/>
                      <a:round/>
                      <a:headEnd type="none" w="med" len="med"/>
                      <a:tailEnd type="none" w="med" len="med"/>
                    </a:lnL>
                    <a:lnR w="9525" cap="flat" cmpd="sng" algn="ctr">
                      <a:solidFill>
                        <a:srgbClr val="D7DFCF"/>
                      </a:solidFill>
                      <a:prstDash val="solid"/>
                      <a:round/>
                      <a:headEnd type="none" w="med" len="med"/>
                      <a:tailEnd type="none" w="med" len="med"/>
                    </a:lnR>
                    <a:lnT w="9525" cap="flat" cmpd="sng" algn="ctr">
                      <a:solidFill>
                        <a:srgbClr val="D7DFCF"/>
                      </a:solidFill>
                      <a:prstDash val="solid"/>
                      <a:round/>
                      <a:headEnd type="none" w="med" len="med"/>
                      <a:tailEnd type="none" w="med" len="med"/>
                    </a:lnT>
                    <a:lnB w="9525" cap="flat" cmpd="sng" algn="ctr">
                      <a:solidFill>
                        <a:srgbClr val="D7DFCF"/>
                      </a:solidFill>
                      <a:prstDash val="solid"/>
                      <a:round/>
                      <a:headEnd type="none" w="med" len="med"/>
                      <a:tailEnd type="none" w="med" len="med"/>
                    </a:lnB>
                    <a:solidFill>
                      <a:srgbClr val="D6E4C6"/>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Application / Output</a:t>
            </a:r>
            <a:endParaRPr lang="en-US" sz="3400" dirty="0"/>
          </a:p>
        </p:txBody>
      </p:sp>
      <p:pic>
        <p:nvPicPr>
          <p:cNvPr id="3" name="Screenshot 1" descr="Terminal output of predict.py: Hot, wet rice field (36 °C) → thick-coat PCU-120: a &quot;90-day&quot; product would run out in ~41 days">    </p:cNvPr>
          <p:cNvPicPr>
            <a:picLocks noChangeAspect="1"/>
          </p:cNvPicPr>
          <p:nvPr/>
        </p:nvPicPr>
        <p:blipFill>
          <a:blip r:embed="rId1"/>
          <a:stretch>
            <a:fillRect/>
          </a:stretch>
        </p:blipFill>
        <p:spPr>
          <a:xfrm>
            <a:off x="548640" y="1280160"/>
            <a:ext cx="5440680" cy="2414302"/>
          </a:xfrm>
          <a:prstGeom prst="rect">
            <a:avLst/>
          </a:prstGeom>
        </p:spPr>
      </p:pic>
      <p:sp>
        <p:nvSpPr>
          <p:cNvPr id="4" name="Screenshot caption 1"/>
          <p:cNvSpPr txBox="1"/>
          <p:nvPr/>
        </p:nvSpPr>
        <p:spPr>
          <a:xfrm>
            <a:off x="548640" y="3886200"/>
            <a:ext cx="5440680" cy="502920"/>
          </a:xfrm>
          <a:prstGeom prst="rect">
            <a:avLst/>
          </a:prstGeom>
          <a:noFill/>
          <a:ln/>
        </p:spPr>
        <p:txBody>
          <a:bodyPr wrap="square" lIns="0" tIns="0" rIns="0" bIns="0" rtlCol="0" anchor="t"/>
          <a:lstStyle/>
          <a:p>
            <a:pPr indent="0" marL="0">
              <a:buNone/>
            </a:pPr>
            <a:r>
              <a:rPr lang="en-US" sz="1200" dirty="0">
                <a:solidFill>
                  <a:schemeClr val="accent5"/>
                </a:solidFill>
              </a:rPr>
              <a:t>Hot, wet rice field (36 °C) → thick-coat PCU-120: a "90-day" product would run out in ~41 days</a:t>
            </a:r>
            <a:endParaRPr lang="en-US" sz="1200" dirty="0"/>
          </a:p>
        </p:txBody>
      </p:sp>
      <p:pic>
        <p:nvPicPr>
          <p:cNvPr id="5" name="Screenshot 2" descr="Terminal output of predict.py: Cool, dry maize field (18 °C) → thin-coat PCU-60: only 10% released after 30 days">    </p:cNvPr>
          <p:cNvPicPr>
            <a:picLocks noChangeAspect="1"/>
          </p:cNvPicPr>
          <p:nvPr/>
        </p:nvPicPr>
        <p:blipFill>
          <a:blip r:embed="rId2"/>
          <a:stretch>
            <a:fillRect/>
          </a:stretch>
        </p:blipFill>
        <p:spPr>
          <a:xfrm>
            <a:off x="6199632" y="1280160"/>
            <a:ext cx="5440680" cy="2567321"/>
          </a:xfrm>
          <a:prstGeom prst="rect">
            <a:avLst/>
          </a:prstGeom>
        </p:spPr>
      </p:pic>
      <p:sp>
        <p:nvSpPr>
          <p:cNvPr id="6" name="Screenshot caption 2"/>
          <p:cNvSpPr txBox="1"/>
          <p:nvPr/>
        </p:nvSpPr>
        <p:spPr>
          <a:xfrm>
            <a:off x="6199632" y="3886200"/>
            <a:ext cx="5440680" cy="502920"/>
          </a:xfrm>
          <a:prstGeom prst="rect">
            <a:avLst/>
          </a:prstGeom>
          <a:noFill/>
          <a:ln/>
        </p:spPr>
        <p:txBody>
          <a:bodyPr wrap="square" lIns="0" tIns="0" rIns="0" bIns="0" rtlCol="0" anchor="t"/>
          <a:lstStyle/>
          <a:p>
            <a:pPr indent="0" marL="0">
              <a:buNone/>
            </a:pPr>
            <a:r>
              <a:rPr lang="en-US" sz="1200" dirty="0">
                <a:solidFill>
                  <a:schemeClr val="accent5"/>
                </a:solidFill>
              </a:rPr>
              <a:t>Cool, dry maize field (18 °C) → thin-coat PCU-60: only 10% released after 30 days</a:t>
            </a:r>
            <a:endParaRPr lang="en-US" sz="1200" dirty="0"/>
          </a:p>
        </p:txBody>
      </p:sp>
      <p:sp>
        <p:nvSpPr>
          <p:cNvPr id="7" name="Use card 1"/>
          <p:cNvSpPr/>
          <p:nvPr/>
        </p:nvSpPr>
        <p:spPr>
          <a:xfrm>
            <a:off x="548640" y="4572000"/>
            <a:ext cx="3520440" cy="1280160"/>
          </a:xfrm>
          <a:prstGeom prst="roundRect">
            <a:avLst>
              <a:gd name="adj" fmla="val 7143"/>
            </a:avLst>
          </a:prstGeom>
          <a:solidFill>
            <a:schemeClr val="bg2"/>
          </a:solidFill>
          <a:ln/>
        </p:spPr>
      </p:sp>
      <p:sp>
        <p:nvSpPr>
          <p:cNvPr id="8" name="Use 1 circle"/>
          <p:cNvSpPr/>
          <p:nvPr/>
        </p:nvSpPr>
        <p:spPr>
          <a:xfrm>
            <a:off x="749808" y="4754880"/>
            <a:ext cx="530352" cy="530352"/>
          </a:xfrm>
          <a:prstGeom prst="ellipse">
            <a:avLst/>
          </a:prstGeom>
          <a:solidFill>
            <a:srgbClr val="2E5E2F"/>
          </a:solidFill>
          <a:ln/>
        </p:spPr>
      </p:sp>
      <p:pic>
        <p:nvPicPr>
          <p:cNvPr id="9" name="Use 1 icon" descr="preencoded.png">    </p:cNvPr>
          <p:cNvPicPr>
            <a:picLocks noChangeAspect="1"/>
          </p:cNvPicPr>
          <p:nvPr/>
        </p:nvPicPr>
        <p:blipFill>
          <a:blip r:embed="rId3"/>
          <a:stretch>
            <a:fillRect/>
          </a:stretch>
        </p:blipFill>
        <p:spPr>
          <a:xfrm>
            <a:off x="882396" y="4887468"/>
            <a:ext cx="265176" cy="265176"/>
          </a:xfrm>
          <a:prstGeom prst="rect">
            <a:avLst/>
          </a:prstGeom>
        </p:spPr>
      </p:pic>
      <p:sp>
        <p:nvSpPr>
          <p:cNvPr id="10" name="Use text 1"/>
          <p:cNvSpPr txBox="1"/>
          <p:nvPr/>
        </p:nvSpPr>
        <p:spPr>
          <a:xfrm>
            <a:off x="1417320" y="4736592"/>
            <a:ext cx="2514600" cy="1051560"/>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Before application</a:t>
            </a:r>
            <a:endParaRPr lang="en-US" sz="1500" dirty="0"/>
          </a:p>
          <a:p>
            <a:pPr indent="0" marL="0">
              <a:spcAft>
                <a:spcPts val="300"/>
              </a:spcAft>
              <a:buNone/>
            </a:pPr>
            <a:r>
              <a:rPr lang="en-US" sz="1300" dirty="0">
                <a:solidFill>
                  <a:schemeClr val="tx1"/>
                </a:solidFill>
              </a:rPr>
              <a:t>Advisor enters soil test and weather → product, dose and date</a:t>
            </a:r>
            <a:endParaRPr lang="en-US" sz="1500" dirty="0"/>
          </a:p>
        </p:txBody>
      </p:sp>
      <p:sp>
        <p:nvSpPr>
          <p:cNvPr id="11" name="Use card 2"/>
          <p:cNvSpPr/>
          <p:nvPr/>
        </p:nvSpPr>
        <p:spPr>
          <a:xfrm>
            <a:off x="4343400" y="4572000"/>
            <a:ext cx="3520440" cy="1280160"/>
          </a:xfrm>
          <a:prstGeom prst="roundRect">
            <a:avLst>
              <a:gd name="adj" fmla="val 7143"/>
            </a:avLst>
          </a:prstGeom>
          <a:solidFill>
            <a:schemeClr val="bg2"/>
          </a:solidFill>
          <a:ln/>
        </p:spPr>
      </p:sp>
      <p:sp>
        <p:nvSpPr>
          <p:cNvPr id="12" name="Use 2 circle"/>
          <p:cNvSpPr/>
          <p:nvPr/>
        </p:nvSpPr>
        <p:spPr>
          <a:xfrm>
            <a:off x="4544568" y="4754880"/>
            <a:ext cx="530352" cy="530352"/>
          </a:xfrm>
          <a:prstGeom prst="ellipse">
            <a:avLst/>
          </a:prstGeom>
          <a:solidFill>
            <a:srgbClr val="2E5E2F"/>
          </a:solidFill>
          <a:ln/>
        </p:spPr>
      </p:sp>
      <p:pic>
        <p:nvPicPr>
          <p:cNvPr id="13" name="Use 2 icon" descr="preencoded.png">    </p:cNvPr>
          <p:cNvPicPr>
            <a:picLocks noChangeAspect="1"/>
          </p:cNvPicPr>
          <p:nvPr/>
        </p:nvPicPr>
        <p:blipFill>
          <a:blip r:embed="rId4"/>
          <a:stretch>
            <a:fillRect/>
          </a:stretch>
        </p:blipFill>
        <p:spPr>
          <a:xfrm>
            <a:off x="4677156" y="4887468"/>
            <a:ext cx="265176" cy="265176"/>
          </a:xfrm>
          <a:prstGeom prst="rect">
            <a:avLst/>
          </a:prstGeom>
        </p:spPr>
      </p:pic>
      <p:sp>
        <p:nvSpPr>
          <p:cNvPr id="14" name="Use text 2"/>
          <p:cNvSpPr txBox="1"/>
          <p:nvPr/>
        </p:nvSpPr>
        <p:spPr>
          <a:xfrm>
            <a:off x="5212080" y="4736592"/>
            <a:ext cx="2514600" cy="1051560"/>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During the season</a:t>
            </a:r>
            <a:endParaRPr lang="en-US" sz="1500" dirty="0"/>
          </a:p>
          <a:p>
            <a:pPr indent="0" marL="0">
              <a:spcAft>
                <a:spcPts val="300"/>
              </a:spcAft>
              <a:buNone/>
            </a:pPr>
            <a:r>
              <a:rPr lang="en-US" sz="1300" dirty="0">
                <a:solidFill>
                  <a:schemeClr val="tx1"/>
                </a:solidFill>
              </a:rPr>
              <a:t>Re-run with current weather to reschedule the next top-dressing</a:t>
            </a:r>
            <a:endParaRPr lang="en-US" sz="1500" dirty="0"/>
          </a:p>
        </p:txBody>
      </p:sp>
      <p:sp>
        <p:nvSpPr>
          <p:cNvPr id="15" name="Use card 3"/>
          <p:cNvSpPr/>
          <p:nvPr/>
        </p:nvSpPr>
        <p:spPr>
          <a:xfrm>
            <a:off x="8138160" y="4572000"/>
            <a:ext cx="3520440" cy="1280160"/>
          </a:xfrm>
          <a:prstGeom prst="roundRect">
            <a:avLst>
              <a:gd name="adj" fmla="val 7143"/>
            </a:avLst>
          </a:prstGeom>
          <a:solidFill>
            <a:schemeClr val="bg2"/>
          </a:solidFill>
          <a:ln/>
        </p:spPr>
      </p:sp>
      <p:sp>
        <p:nvSpPr>
          <p:cNvPr id="16" name="Use 3 circle"/>
          <p:cNvSpPr/>
          <p:nvPr/>
        </p:nvSpPr>
        <p:spPr>
          <a:xfrm>
            <a:off x="8339328" y="4754880"/>
            <a:ext cx="530352" cy="530352"/>
          </a:xfrm>
          <a:prstGeom prst="ellipse">
            <a:avLst/>
          </a:prstGeom>
          <a:solidFill>
            <a:srgbClr val="2E5E2F"/>
          </a:solidFill>
          <a:ln/>
        </p:spPr>
      </p:sp>
      <p:pic>
        <p:nvPicPr>
          <p:cNvPr id="17" name="Use 3 icon" descr="preencoded.png">    </p:cNvPr>
          <p:cNvPicPr>
            <a:picLocks noChangeAspect="1"/>
          </p:cNvPicPr>
          <p:nvPr/>
        </p:nvPicPr>
        <p:blipFill>
          <a:blip r:embed="rId5"/>
          <a:stretch>
            <a:fillRect/>
          </a:stretch>
        </p:blipFill>
        <p:spPr>
          <a:xfrm>
            <a:off x="8471916" y="4887468"/>
            <a:ext cx="265176" cy="265176"/>
          </a:xfrm>
          <a:prstGeom prst="rect">
            <a:avLst/>
          </a:prstGeom>
        </p:spPr>
      </p:pic>
      <p:sp>
        <p:nvSpPr>
          <p:cNvPr id="18" name="Use text 3"/>
          <p:cNvSpPr txBox="1"/>
          <p:nvPr/>
        </p:nvSpPr>
        <p:spPr>
          <a:xfrm>
            <a:off x="9006840" y="4736592"/>
            <a:ext cx="2514600" cy="1051560"/>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Built-in safety</a:t>
            </a:r>
            <a:endParaRPr lang="en-US" sz="1500" dirty="0"/>
          </a:p>
          <a:p>
            <a:pPr indent="0" marL="0">
              <a:spcAft>
                <a:spcPts val="300"/>
              </a:spcAft>
              <a:buNone/>
            </a:pPr>
            <a:r>
              <a:rPr lang="en-US" sz="1300" dirty="0">
                <a:solidFill>
                  <a:schemeClr val="tx1"/>
                </a:solidFill>
              </a:rPr>
              <a:t>Inputs outside the training range are flagged as extrapolations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Challenges &amp; Solutions</a:t>
            </a:r>
            <a:endParaRPr lang="en-US" sz="3400" dirty="0"/>
          </a:p>
        </p:txBody>
      </p:sp>
      <p:sp>
        <p:nvSpPr>
          <p:cNvPr id="3" name="Challenge box 1"/>
          <p:cNvSpPr/>
          <p:nvPr/>
        </p:nvSpPr>
        <p:spPr>
          <a:xfrm>
            <a:off x="548640" y="1325880"/>
            <a:ext cx="5074920" cy="822960"/>
          </a:xfrm>
          <a:prstGeom prst="roundRect">
            <a:avLst>
              <a:gd name="adj" fmla="val 8889"/>
            </a:avLst>
          </a:prstGeom>
          <a:solidFill>
            <a:schemeClr val="bg2"/>
          </a:solidFill>
          <a:ln/>
        </p:spPr>
      </p:sp>
      <p:pic>
        <p:nvPicPr>
          <p:cNvPr id="4" name="Challenge icon 1" descr="preencoded.png">    </p:cNvPr>
          <p:cNvPicPr>
            <a:picLocks noChangeAspect="1"/>
          </p:cNvPicPr>
          <p:nvPr/>
        </p:nvPicPr>
        <p:blipFill>
          <a:blip r:embed="rId1"/>
          <a:stretch>
            <a:fillRect/>
          </a:stretch>
        </p:blipFill>
        <p:spPr>
          <a:xfrm>
            <a:off x="713232" y="1572768"/>
            <a:ext cx="329184" cy="329184"/>
          </a:xfrm>
          <a:prstGeom prst="rect">
            <a:avLst/>
          </a:prstGeom>
        </p:spPr>
      </p:pic>
      <p:sp>
        <p:nvSpPr>
          <p:cNvPr id="5" name="Challenge text 1"/>
          <p:cNvSpPr txBox="1"/>
          <p:nvPr/>
        </p:nvSpPr>
        <p:spPr>
          <a:xfrm>
            <a:off x="1188720" y="1325880"/>
            <a:ext cx="4343400" cy="822960"/>
          </a:xfrm>
          <a:prstGeom prst="rect">
            <a:avLst/>
          </a:prstGeom>
          <a:noFill/>
          <a:ln/>
        </p:spPr>
        <p:txBody>
          <a:bodyPr wrap="square" lIns="0" tIns="0" rIns="0" bIns="0" rtlCol="0" anchor="ctr"/>
          <a:lstStyle/>
          <a:p>
            <a:pPr indent="0" marL="0">
              <a:buNone/>
            </a:pPr>
            <a:r>
              <a:rPr lang="en-US" sz="1500" b="1" dirty="0">
                <a:solidFill>
                  <a:schemeClr val="tx1"/>
                </a:solidFill>
              </a:rPr>
              <a:t>No public dataset of field release</a:t>
            </a:r>
            <a:endParaRPr lang="en-US" sz="1500" dirty="0"/>
          </a:p>
        </p:txBody>
      </p:sp>
      <p:sp>
        <p:nvSpPr>
          <p:cNvPr id="6" name="Challenge arrow 1"/>
          <p:cNvSpPr/>
          <p:nvPr/>
        </p:nvSpPr>
        <p:spPr>
          <a:xfrm>
            <a:off x="5760720" y="1572768"/>
            <a:ext cx="384048" cy="329184"/>
          </a:xfrm>
          <a:prstGeom prst="rightArrow">
            <a:avLst/>
          </a:prstGeom>
          <a:solidFill>
            <a:schemeClr val="accent3"/>
          </a:solidFill>
          <a:ln/>
        </p:spPr>
      </p:sp>
      <p:sp>
        <p:nvSpPr>
          <p:cNvPr id="7" name="Solution box 1"/>
          <p:cNvSpPr/>
          <p:nvPr/>
        </p:nvSpPr>
        <p:spPr>
          <a:xfrm>
            <a:off x="6281928" y="1325880"/>
            <a:ext cx="5358384" cy="822960"/>
          </a:xfrm>
          <a:prstGeom prst="roundRect">
            <a:avLst>
              <a:gd name="adj" fmla="val 8889"/>
            </a:avLst>
          </a:prstGeom>
          <a:solidFill>
            <a:schemeClr val="accent6"/>
          </a:solidFill>
          <a:ln/>
        </p:spPr>
      </p:sp>
      <p:pic>
        <p:nvPicPr>
          <p:cNvPr id="8" name="Solution icon 1" descr="preencoded.png">    </p:cNvPr>
          <p:cNvPicPr>
            <a:picLocks noChangeAspect="1"/>
          </p:cNvPicPr>
          <p:nvPr/>
        </p:nvPicPr>
        <p:blipFill>
          <a:blip r:embed="rId2"/>
          <a:stretch>
            <a:fillRect/>
          </a:stretch>
        </p:blipFill>
        <p:spPr>
          <a:xfrm>
            <a:off x="6446520" y="1572768"/>
            <a:ext cx="329184" cy="329184"/>
          </a:xfrm>
          <a:prstGeom prst="rect">
            <a:avLst/>
          </a:prstGeom>
        </p:spPr>
      </p:pic>
      <p:sp>
        <p:nvSpPr>
          <p:cNvPr id="9" name="Solution text 1"/>
          <p:cNvSpPr txBox="1"/>
          <p:nvPr/>
        </p:nvSpPr>
        <p:spPr>
          <a:xfrm>
            <a:off x="6922008" y="1325880"/>
            <a:ext cx="4617720" cy="822960"/>
          </a:xfrm>
          <a:prstGeom prst="rect">
            <a:avLst/>
          </a:prstGeom>
          <a:noFill/>
          <a:ln/>
        </p:spPr>
        <p:txBody>
          <a:bodyPr wrap="square" lIns="0" tIns="0" rIns="0" bIns="0" rtlCol="0" anchor="ctr"/>
          <a:lstStyle/>
          <a:p>
            <a:pPr indent="0" marL="0">
              <a:buNone/>
            </a:pPr>
            <a:r>
              <a:rPr lang="en-US" sz="1500" dirty="0">
                <a:solidFill>
                  <a:schemeClr val="tx1"/>
                </a:solidFill>
              </a:rPr>
              <a:t>Combined real Kaggle field data with literature-based release simulation</a:t>
            </a:r>
            <a:endParaRPr lang="en-US" sz="1500" dirty="0"/>
          </a:p>
        </p:txBody>
      </p:sp>
      <p:sp>
        <p:nvSpPr>
          <p:cNvPr id="10" name="Challenge box 2"/>
          <p:cNvSpPr/>
          <p:nvPr/>
        </p:nvSpPr>
        <p:spPr>
          <a:xfrm>
            <a:off x="548640" y="2304288"/>
            <a:ext cx="5074920" cy="822960"/>
          </a:xfrm>
          <a:prstGeom prst="roundRect">
            <a:avLst>
              <a:gd name="adj" fmla="val 8889"/>
            </a:avLst>
          </a:prstGeom>
          <a:solidFill>
            <a:schemeClr val="bg2"/>
          </a:solidFill>
          <a:ln/>
        </p:spPr>
      </p:sp>
      <p:pic>
        <p:nvPicPr>
          <p:cNvPr id="11" name="Challenge icon 2" descr="preencoded.png">    </p:cNvPr>
          <p:cNvPicPr>
            <a:picLocks noChangeAspect="1"/>
          </p:cNvPicPr>
          <p:nvPr/>
        </p:nvPicPr>
        <p:blipFill>
          <a:blip r:embed="rId3"/>
          <a:stretch>
            <a:fillRect/>
          </a:stretch>
        </p:blipFill>
        <p:spPr>
          <a:xfrm>
            <a:off x="713232" y="2551176"/>
            <a:ext cx="329184" cy="329184"/>
          </a:xfrm>
          <a:prstGeom prst="rect">
            <a:avLst/>
          </a:prstGeom>
        </p:spPr>
      </p:pic>
      <p:sp>
        <p:nvSpPr>
          <p:cNvPr id="12" name="Challenge text 2"/>
          <p:cNvSpPr txBox="1"/>
          <p:nvPr/>
        </p:nvSpPr>
        <p:spPr>
          <a:xfrm>
            <a:off x="1188720" y="2304288"/>
            <a:ext cx="4343400" cy="822960"/>
          </a:xfrm>
          <a:prstGeom prst="rect">
            <a:avLst/>
          </a:prstGeom>
          <a:noFill/>
          <a:ln/>
        </p:spPr>
        <p:txBody>
          <a:bodyPr wrap="square" lIns="0" tIns="0" rIns="0" bIns="0" rtlCol="0" anchor="ctr"/>
          <a:lstStyle/>
          <a:p>
            <a:pPr indent="0" marL="0">
              <a:buNone/>
            </a:pPr>
            <a:r>
              <a:rPr lang="en-US" sz="1500" b="1" dirty="0">
                <a:solidFill>
                  <a:schemeClr val="tx1"/>
                </a:solidFill>
              </a:rPr>
              <a:t>Dose depends on the product (amount R² only 0.77)</a:t>
            </a:r>
            <a:endParaRPr lang="en-US" sz="1500" dirty="0"/>
          </a:p>
        </p:txBody>
      </p:sp>
      <p:sp>
        <p:nvSpPr>
          <p:cNvPr id="13" name="Challenge arrow 2"/>
          <p:cNvSpPr/>
          <p:nvPr/>
        </p:nvSpPr>
        <p:spPr>
          <a:xfrm>
            <a:off x="5760720" y="2551176"/>
            <a:ext cx="384048" cy="329184"/>
          </a:xfrm>
          <a:prstGeom prst="rightArrow">
            <a:avLst/>
          </a:prstGeom>
          <a:solidFill>
            <a:schemeClr val="accent3"/>
          </a:solidFill>
          <a:ln/>
        </p:spPr>
      </p:sp>
      <p:sp>
        <p:nvSpPr>
          <p:cNvPr id="14" name="Solution box 2"/>
          <p:cNvSpPr/>
          <p:nvPr/>
        </p:nvSpPr>
        <p:spPr>
          <a:xfrm>
            <a:off x="6281928" y="2304288"/>
            <a:ext cx="5358384" cy="822960"/>
          </a:xfrm>
          <a:prstGeom prst="roundRect">
            <a:avLst>
              <a:gd name="adj" fmla="val 8889"/>
            </a:avLst>
          </a:prstGeom>
          <a:solidFill>
            <a:schemeClr val="accent6"/>
          </a:solidFill>
          <a:ln/>
        </p:spPr>
      </p:sp>
      <p:pic>
        <p:nvPicPr>
          <p:cNvPr id="15" name="Solution icon 2" descr="preencoded.png">    </p:cNvPr>
          <p:cNvPicPr>
            <a:picLocks noChangeAspect="1"/>
          </p:cNvPicPr>
          <p:nvPr/>
        </p:nvPicPr>
        <p:blipFill>
          <a:blip r:embed="rId4"/>
          <a:stretch>
            <a:fillRect/>
          </a:stretch>
        </p:blipFill>
        <p:spPr>
          <a:xfrm>
            <a:off x="6446520" y="2551176"/>
            <a:ext cx="329184" cy="329184"/>
          </a:xfrm>
          <a:prstGeom prst="rect">
            <a:avLst/>
          </a:prstGeom>
        </p:spPr>
      </p:pic>
      <p:sp>
        <p:nvSpPr>
          <p:cNvPr id="16" name="Solution text 2"/>
          <p:cNvSpPr txBox="1"/>
          <p:nvPr/>
        </p:nvSpPr>
        <p:spPr>
          <a:xfrm>
            <a:off x="6922008" y="2304288"/>
            <a:ext cx="4617720" cy="822960"/>
          </a:xfrm>
          <a:prstGeom prst="rect">
            <a:avLst/>
          </a:prstGeom>
          <a:noFill/>
          <a:ln/>
        </p:spPr>
        <p:txBody>
          <a:bodyPr wrap="square" lIns="0" tIns="0" rIns="0" bIns="0" rtlCol="0" anchor="ctr"/>
          <a:lstStyle/>
          <a:p>
            <a:pPr indent="0" marL="0">
              <a:buNone/>
            </a:pPr>
            <a:r>
              <a:rPr lang="en-US" sz="1500" dirty="0">
                <a:solidFill>
                  <a:schemeClr val="tx1"/>
                </a:solidFill>
              </a:rPr>
              <a:t>Chained models: predict type first, then amount and timing for it (R² 0.99)</a:t>
            </a:r>
            <a:endParaRPr lang="en-US" sz="1500" dirty="0"/>
          </a:p>
        </p:txBody>
      </p:sp>
      <p:sp>
        <p:nvSpPr>
          <p:cNvPr id="17" name="Challenge box 3"/>
          <p:cNvSpPr/>
          <p:nvPr/>
        </p:nvSpPr>
        <p:spPr>
          <a:xfrm>
            <a:off x="548640" y="3282696"/>
            <a:ext cx="5074920" cy="822960"/>
          </a:xfrm>
          <a:prstGeom prst="roundRect">
            <a:avLst>
              <a:gd name="adj" fmla="val 8889"/>
            </a:avLst>
          </a:prstGeom>
          <a:solidFill>
            <a:schemeClr val="bg2"/>
          </a:solidFill>
          <a:ln/>
        </p:spPr>
      </p:sp>
      <p:pic>
        <p:nvPicPr>
          <p:cNvPr id="18" name="Challenge icon 3" descr="preencoded.png">    </p:cNvPr>
          <p:cNvPicPr>
            <a:picLocks noChangeAspect="1"/>
          </p:cNvPicPr>
          <p:nvPr/>
        </p:nvPicPr>
        <p:blipFill>
          <a:blip r:embed="rId5"/>
          <a:stretch>
            <a:fillRect/>
          </a:stretch>
        </p:blipFill>
        <p:spPr>
          <a:xfrm>
            <a:off x="713232" y="3529584"/>
            <a:ext cx="329184" cy="329184"/>
          </a:xfrm>
          <a:prstGeom prst="rect">
            <a:avLst/>
          </a:prstGeom>
        </p:spPr>
      </p:pic>
      <p:sp>
        <p:nvSpPr>
          <p:cNvPr id="19" name="Challenge text 3"/>
          <p:cNvSpPr txBox="1"/>
          <p:nvPr/>
        </p:nvSpPr>
        <p:spPr>
          <a:xfrm>
            <a:off x="1188720" y="3282696"/>
            <a:ext cx="4343400" cy="822960"/>
          </a:xfrm>
          <a:prstGeom prst="rect">
            <a:avLst/>
          </a:prstGeom>
          <a:noFill/>
          <a:ln/>
        </p:spPr>
        <p:txBody>
          <a:bodyPr wrap="square" lIns="0" tIns="0" rIns="0" bIns="0" rtlCol="0" anchor="ctr"/>
          <a:lstStyle/>
          <a:p>
            <a:pPr indent="0" marL="0">
              <a:buNone/>
            </a:pPr>
            <a:r>
              <a:rPr lang="en-US" sz="1500" b="1" dirty="0">
                <a:solidFill>
                  <a:schemeClr val="tx1"/>
                </a:solidFill>
              </a:rPr>
              <a:t>Unfair comparison with the static system</a:t>
            </a:r>
            <a:endParaRPr lang="en-US" sz="1500" dirty="0"/>
          </a:p>
        </p:txBody>
      </p:sp>
      <p:sp>
        <p:nvSpPr>
          <p:cNvPr id="20" name="Challenge arrow 3"/>
          <p:cNvSpPr/>
          <p:nvPr/>
        </p:nvSpPr>
        <p:spPr>
          <a:xfrm>
            <a:off x="5760720" y="3529584"/>
            <a:ext cx="384048" cy="329184"/>
          </a:xfrm>
          <a:prstGeom prst="rightArrow">
            <a:avLst/>
          </a:prstGeom>
          <a:solidFill>
            <a:schemeClr val="accent3"/>
          </a:solidFill>
          <a:ln/>
        </p:spPr>
      </p:sp>
      <p:sp>
        <p:nvSpPr>
          <p:cNvPr id="21" name="Solution box 3"/>
          <p:cNvSpPr/>
          <p:nvPr/>
        </p:nvSpPr>
        <p:spPr>
          <a:xfrm>
            <a:off x="6281928" y="3282696"/>
            <a:ext cx="5358384" cy="822960"/>
          </a:xfrm>
          <a:prstGeom prst="roundRect">
            <a:avLst>
              <a:gd name="adj" fmla="val 8889"/>
            </a:avLst>
          </a:prstGeom>
          <a:solidFill>
            <a:schemeClr val="accent6"/>
          </a:solidFill>
          <a:ln/>
        </p:spPr>
      </p:sp>
      <p:pic>
        <p:nvPicPr>
          <p:cNvPr id="22" name="Solution icon 3" descr="preencoded.png">    </p:cNvPr>
          <p:cNvPicPr>
            <a:picLocks noChangeAspect="1"/>
          </p:cNvPicPr>
          <p:nvPr/>
        </p:nvPicPr>
        <p:blipFill>
          <a:blip r:embed="rId6"/>
          <a:stretch>
            <a:fillRect/>
          </a:stretch>
        </p:blipFill>
        <p:spPr>
          <a:xfrm>
            <a:off x="6446520" y="3529584"/>
            <a:ext cx="329184" cy="329184"/>
          </a:xfrm>
          <a:prstGeom prst="rect">
            <a:avLst/>
          </a:prstGeom>
        </p:spPr>
      </p:pic>
      <p:sp>
        <p:nvSpPr>
          <p:cNvPr id="23" name="Solution text 3"/>
          <p:cNvSpPr txBox="1"/>
          <p:nvPr/>
        </p:nvSpPr>
        <p:spPr>
          <a:xfrm>
            <a:off x="6922008" y="3282696"/>
            <a:ext cx="4617720" cy="822960"/>
          </a:xfrm>
          <a:prstGeom prst="rect">
            <a:avLst/>
          </a:prstGeom>
          <a:noFill/>
          <a:ln/>
        </p:spPr>
        <p:txBody>
          <a:bodyPr wrap="square" lIns="0" tIns="0" rIns="0" bIns="0" rtlCol="0" anchor="ctr"/>
          <a:lstStyle/>
          <a:p>
            <a:pPr indent="0" marL="0">
              <a:buNone/>
            </a:pPr>
            <a:r>
              <a:rPr lang="en-US" sz="1500" dirty="0">
                <a:solidFill>
                  <a:schemeClr val="tx1"/>
                </a:solidFill>
              </a:rPr>
              <a:t>Evaluated every system on the same recommended product</a:t>
            </a:r>
            <a:endParaRPr lang="en-US" sz="1500" dirty="0"/>
          </a:p>
        </p:txBody>
      </p:sp>
      <p:sp>
        <p:nvSpPr>
          <p:cNvPr id="24" name="Challenge box 4"/>
          <p:cNvSpPr/>
          <p:nvPr/>
        </p:nvSpPr>
        <p:spPr>
          <a:xfrm>
            <a:off x="548640" y="4261104"/>
            <a:ext cx="5074920" cy="822960"/>
          </a:xfrm>
          <a:prstGeom prst="roundRect">
            <a:avLst>
              <a:gd name="adj" fmla="val 8889"/>
            </a:avLst>
          </a:prstGeom>
          <a:solidFill>
            <a:schemeClr val="bg2"/>
          </a:solidFill>
          <a:ln/>
        </p:spPr>
      </p:sp>
      <p:pic>
        <p:nvPicPr>
          <p:cNvPr id="25" name="Challenge icon 4" descr="preencoded.png">    </p:cNvPr>
          <p:cNvPicPr>
            <a:picLocks noChangeAspect="1"/>
          </p:cNvPicPr>
          <p:nvPr/>
        </p:nvPicPr>
        <p:blipFill>
          <a:blip r:embed="rId7"/>
          <a:stretch>
            <a:fillRect/>
          </a:stretch>
        </p:blipFill>
        <p:spPr>
          <a:xfrm>
            <a:off x="713232" y="4507992"/>
            <a:ext cx="329184" cy="329184"/>
          </a:xfrm>
          <a:prstGeom prst="rect">
            <a:avLst/>
          </a:prstGeom>
        </p:spPr>
      </p:pic>
      <p:sp>
        <p:nvSpPr>
          <p:cNvPr id="26" name="Challenge text 4"/>
          <p:cNvSpPr txBox="1"/>
          <p:nvPr/>
        </p:nvSpPr>
        <p:spPr>
          <a:xfrm>
            <a:off x="1188720" y="4261104"/>
            <a:ext cx="4343400" cy="822960"/>
          </a:xfrm>
          <a:prstGeom prst="rect">
            <a:avLst/>
          </a:prstGeom>
          <a:noFill/>
          <a:ln/>
        </p:spPr>
        <p:txBody>
          <a:bodyPr wrap="square" lIns="0" tIns="0" rIns="0" bIns="0" rtlCol="0" anchor="ctr"/>
          <a:lstStyle/>
          <a:p>
            <a:pPr indent="0" marL="0">
              <a:buNone/>
            </a:pPr>
            <a:r>
              <a:rPr lang="en-US" sz="1500" b="1" dirty="0">
                <a:solidFill>
                  <a:schemeClr val="tx1"/>
                </a:solidFill>
              </a:rPr>
              <a:t>Coat grades confused (~75% accuracy)</a:t>
            </a:r>
            <a:endParaRPr lang="en-US" sz="1500" dirty="0"/>
          </a:p>
        </p:txBody>
      </p:sp>
      <p:sp>
        <p:nvSpPr>
          <p:cNvPr id="27" name="Challenge arrow 4"/>
          <p:cNvSpPr/>
          <p:nvPr/>
        </p:nvSpPr>
        <p:spPr>
          <a:xfrm>
            <a:off x="5760720" y="4507992"/>
            <a:ext cx="384048" cy="329184"/>
          </a:xfrm>
          <a:prstGeom prst="rightArrow">
            <a:avLst/>
          </a:prstGeom>
          <a:solidFill>
            <a:schemeClr val="accent3"/>
          </a:solidFill>
          <a:ln/>
        </p:spPr>
      </p:sp>
      <p:sp>
        <p:nvSpPr>
          <p:cNvPr id="28" name="Solution box 4"/>
          <p:cNvSpPr/>
          <p:nvPr/>
        </p:nvSpPr>
        <p:spPr>
          <a:xfrm>
            <a:off x="6281928" y="4261104"/>
            <a:ext cx="5358384" cy="822960"/>
          </a:xfrm>
          <a:prstGeom prst="roundRect">
            <a:avLst>
              <a:gd name="adj" fmla="val 8889"/>
            </a:avLst>
          </a:prstGeom>
          <a:solidFill>
            <a:schemeClr val="accent6"/>
          </a:solidFill>
          <a:ln/>
        </p:spPr>
      </p:sp>
      <p:pic>
        <p:nvPicPr>
          <p:cNvPr id="29" name="Solution icon 4" descr="preencoded.png">    </p:cNvPr>
          <p:cNvPicPr>
            <a:picLocks noChangeAspect="1"/>
          </p:cNvPicPr>
          <p:nvPr/>
        </p:nvPicPr>
        <p:blipFill>
          <a:blip r:embed="rId8"/>
          <a:stretch>
            <a:fillRect/>
          </a:stretch>
        </p:blipFill>
        <p:spPr>
          <a:xfrm>
            <a:off x="6446520" y="4507992"/>
            <a:ext cx="329184" cy="329184"/>
          </a:xfrm>
          <a:prstGeom prst="rect">
            <a:avLst/>
          </a:prstGeom>
        </p:spPr>
      </p:pic>
      <p:sp>
        <p:nvSpPr>
          <p:cNvPr id="30" name="Solution text 4"/>
          <p:cNvSpPr txBox="1"/>
          <p:nvPr/>
        </p:nvSpPr>
        <p:spPr>
          <a:xfrm>
            <a:off x="6922008" y="4261104"/>
            <a:ext cx="4617720" cy="822960"/>
          </a:xfrm>
          <a:prstGeom prst="rect">
            <a:avLst/>
          </a:prstGeom>
          <a:noFill/>
          <a:ln/>
        </p:spPr>
        <p:txBody>
          <a:bodyPr wrap="square" lIns="0" tIns="0" rIns="0" bIns="0" rtlCol="0" anchor="ctr"/>
          <a:lstStyle/>
          <a:p>
            <a:pPr indent="0" marL="0">
              <a:buNone/>
            </a:pPr>
            <a:r>
              <a:rPr lang="en-US" sz="1500" dirty="0">
                <a:solidFill>
                  <a:schemeClr val="tx1"/>
                </a:solidFill>
              </a:rPr>
              <a:t>Engineered a synchrony index from Module 1's output (+3 points)</a:t>
            </a:r>
            <a:endParaRPr lang="en-US" sz="1500" dirty="0"/>
          </a:p>
        </p:txBody>
      </p:sp>
      <p:sp>
        <p:nvSpPr>
          <p:cNvPr id="31" name="Challenge box 5"/>
          <p:cNvSpPr/>
          <p:nvPr/>
        </p:nvSpPr>
        <p:spPr>
          <a:xfrm>
            <a:off x="548640" y="5239512"/>
            <a:ext cx="5074920" cy="822960"/>
          </a:xfrm>
          <a:prstGeom prst="roundRect">
            <a:avLst>
              <a:gd name="adj" fmla="val 8889"/>
            </a:avLst>
          </a:prstGeom>
          <a:solidFill>
            <a:schemeClr val="bg2"/>
          </a:solidFill>
          <a:ln/>
        </p:spPr>
      </p:sp>
      <p:pic>
        <p:nvPicPr>
          <p:cNvPr id="32" name="Challenge icon 5" descr="preencoded.png">    </p:cNvPr>
          <p:cNvPicPr>
            <a:picLocks noChangeAspect="1"/>
          </p:cNvPicPr>
          <p:nvPr/>
        </p:nvPicPr>
        <p:blipFill>
          <a:blip r:embed="rId9"/>
          <a:stretch>
            <a:fillRect/>
          </a:stretch>
        </p:blipFill>
        <p:spPr>
          <a:xfrm>
            <a:off x="713232" y="5486400"/>
            <a:ext cx="329184" cy="329184"/>
          </a:xfrm>
          <a:prstGeom prst="rect">
            <a:avLst/>
          </a:prstGeom>
        </p:spPr>
      </p:pic>
      <p:sp>
        <p:nvSpPr>
          <p:cNvPr id="33" name="Challenge text 5"/>
          <p:cNvSpPr txBox="1"/>
          <p:nvPr/>
        </p:nvSpPr>
        <p:spPr>
          <a:xfrm>
            <a:off x="1188720" y="5239512"/>
            <a:ext cx="4343400" cy="822960"/>
          </a:xfrm>
          <a:prstGeom prst="rect">
            <a:avLst/>
          </a:prstGeom>
          <a:noFill/>
          <a:ln/>
        </p:spPr>
        <p:txBody>
          <a:bodyPr wrap="square" lIns="0" tIns="0" rIns="0" bIns="0" rtlCol="0" anchor="ctr"/>
          <a:lstStyle/>
          <a:p>
            <a:pPr indent="0" marL="0">
              <a:buNone/>
            </a:pPr>
            <a:r>
              <a:rPr lang="en-US" sz="1500" b="1" dirty="0">
                <a:solidFill>
                  <a:schemeClr val="tx1"/>
                </a:solidFill>
              </a:rPr>
              <a:t>Risk of optimistic test scores</a:t>
            </a:r>
            <a:endParaRPr lang="en-US" sz="1500" dirty="0"/>
          </a:p>
        </p:txBody>
      </p:sp>
      <p:sp>
        <p:nvSpPr>
          <p:cNvPr id="34" name="Challenge arrow 5"/>
          <p:cNvSpPr/>
          <p:nvPr/>
        </p:nvSpPr>
        <p:spPr>
          <a:xfrm>
            <a:off x="5760720" y="5486400"/>
            <a:ext cx="384048" cy="329184"/>
          </a:xfrm>
          <a:prstGeom prst="rightArrow">
            <a:avLst/>
          </a:prstGeom>
          <a:solidFill>
            <a:schemeClr val="accent3"/>
          </a:solidFill>
          <a:ln/>
        </p:spPr>
      </p:sp>
      <p:sp>
        <p:nvSpPr>
          <p:cNvPr id="35" name="Solution box 5"/>
          <p:cNvSpPr/>
          <p:nvPr/>
        </p:nvSpPr>
        <p:spPr>
          <a:xfrm>
            <a:off x="6281928" y="5239512"/>
            <a:ext cx="5358384" cy="822960"/>
          </a:xfrm>
          <a:prstGeom prst="roundRect">
            <a:avLst>
              <a:gd name="adj" fmla="val 8889"/>
            </a:avLst>
          </a:prstGeom>
          <a:solidFill>
            <a:schemeClr val="accent6"/>
          </a:solidFill>
          <a:ln/>
        </p:spPr>
      </p:sp>
      <p:pic>
        <p:nvPicPr>
          <p:cNvPr id="36" name="Solution icon 5" descr="preencoded.png">    </p:cNvPr>
          <p:cNvPicPr>
            <a:picLocks noChangeAspect="1"/>
          </p:cNvPicPr>
          <p:nvPr/>
        </p:nvPicPr>
        <p:blipFill>
          <a:blip r:embed="rId10"/>
          <a:stretch>
            <a:fillRect/>
          </a:stretch>
        </p:blipFill>
        <p:spPr>
          <a:xfrm>
            <a:off x="6446520" y="5486400"/>
            <a:ext cx="329184" cy="329184"/>
          </a:xfrm>
          <a:prstGeom prst="rect">
            <a:avLst/>
          </a:prstGeom>
        </p:spPr>
      </p:pic>
      <p:sp>
        <p:nvSpPr>
          <p:cNvPr id="37" name="Solution text 5"/>
          <p:cNvSpPr txBox="1"/>
          <p:nvPr/>
        </p:nvSpPr>
        <p:spPr>
          <a:xfrm>
            <a:off x="6922008" y="5239512"/>
            <a:ext cx="4617720" cy="822960"/>
          </a:xfrm>
          <a:prstGeom prst="rect">
            <a:avLst/>
          </a:prstGeom>
          <a:noFill/>
          <a:ln/>
        </p:spPr>
        <p:txBody>
          <a:bodyPr wrap="square" lIns="0" tIns="0" rIns="0" bIns="0" rtlCol="0" anchor="ctr"/>
          <a:lstStyle/>
          <a:p>
            <a:pPr indent="0" marL="0">
              <a:buNone/>
            </a:pPr>
            <a:r>
              <a:rPr lang="en-US" sz="1500" dirty="0">
                <a:solidFill>
                  <a:schemeClr val="tx1"/>
                </a:solidFill>
              </a:rPr>
              <a:t>Selected models by 5-fold CV; test set used only once</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292608"/>
            <a:ext cx="9509760" cy="77724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Conclusion &amp; Future Scope</a:t>
            </a:r>
            <a:endParaRPr lang="en-US" sz="3400" dirty="0"/>
          </a:p>
        </p:txBody>
      </p:sp>
      <p:sp>
        <p:nvSpPr>
          <p:cNvPr id="3" name="Findings header"/>
          <p:cNvSpPr txBox="1"/>
          <p:nvPr/>
        </p:nvSpPr>
        <p:spPr>
          <a:xfrm>
            <a:off x="548640" y="1280160"/>
            <a:ext cx="566928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KEY FINDINGS · ALL 5 OBJECTIVES ACHIEVED</a:t>
            </a:r>
            <a:endParaRPr lang="en-US" sz="1200" dirty="0"/>
          </a:p>
        </p:txBody>
      </p:sp>
      <p:pic>
        <p:nvPicPr>
          <p:cNvPr id="4" name="Finding icon 1" descr="preencoded.png">    </p:cNvPr>
          <p:cNvPicPr>
            <a:picLocks noChangeAspect="1"/>
          </p:cNvPicPr>
          <p:nvPr/>
        </p:nvPicPr>
        <p:blipFill>
          <a:blip r:embed="rId1"/>
          <a:stretch>
            <a:fillRect/>
          </a:stretch>
        </p:blipFill>
        <p:spPr>
          <a:xfrm>
            <a:off x="548640" y="1764792"/>
            <a:ext cx="347472" cy="347472"/>
          </a:xfrm>
          <a:prstGeom prst="rect">
            <a:avLst/>
          </a:prstGeom>
        </p:spPr>
      </p:pic>
      <p:sp>
        <p:nvSpPr>
          <p:cNvPr id="5" name="Finding 1"/>
          <p:cNvSpPr txBox="1"/>
          <p:nvPr/>
        </p:nvSpPr>
        <p:spPr>
          <a:xfrm>
            <a:off x="1051560" y="1691640"/>
            <a:ext cx="5120640" cy="914400"/>
          </a:xfrm>
          <a:prstGeom prst="rect">
            <a:avLst/>
          </a:prstGeom>
          <a:noFill/>
          <a:ln/>
        </p:spPr>
        <p:txBody>
          <a:bodyPr wrap="square" lIns="0" tIns="0" rIns="0" bIns="0" rtlCol="0" anchor="t"/>
          <a:lstStyle/>
          <a:p>
            <a:pPr indent="0" marL="0">
              <a:buNone/>
            </a:pPr>
            <a:r>
              <a:rPr lang="en-US" sz="1500" dirty="0">
                <a:solidFill>
                  <a:schemeClr val="bg1"/>
                </a:solidFill>
              </a:rPr>
              <a:t>Module 1 predicts field release with R² 0.98–0.99, replacing the fixed "90-day" label</a:t>
            </a:r>
            <a:endParaRPr lang="en-US" sz="1500" dirty="0"/>
          </a:p>
        </p:txBody>
      </p:sp>
      <p:pic>
        <p:nvPicPr>
          <p:cNvPr id="6" name="Finding icon 2" descr="preencoded.png">    </p:cNvPr>
          <p:cNvPicPr>
            <a:picLocks noChangeAspect="1"/>
          </p:cNvPicPr>
          <p:nvPr/>
        </p:nvPicPr>
        <p:blipFill>
          <a:blip r:embed="rId2"/>
          <a:stretch>
            <a:fillRect/>
          </a:stretch>
        </p:blipFill>
        <p:spPr>
          <a:xfrm>
            <a:off x="548640" y="2788920"/>
            <a:ext cx="347472" cy="347472"/>
          </a:xfrm>
          <a:prstGeom prst="rect">
            <a:avLst/>
          </a:prstGeom>
        </p:spPr>
      </p:pic>
      <p:sp>
        <p:nvSpPr>
          <p:cNvPr id="7" name="Finding 2"/>
          <p:cNvSpPr txBox="1"/>
          <p:nvPr/>
        </p:nvSpPr>
        <p:spPr>
          <a:xfrm>
            <a:off x="1051560" y="2715768"/>
            <a:ext cx="5120640" cy="914400"/>
          </a:xfrm>
          <a:prstGeom prst="rect">
            <a:avLst/>
          </a:prstGeom>
          <a:noFill/>
          <a:ln/>
        </p:spPr>
        <p:txBody>
          <a:bodyPr wrap="square" lIns="0" tIns="0" rIns="0" bIns="0" rtlCol="0" anchor="t"/>
          <a:lstStyle/>
          <a:p>
            <a:pPr indent="0" marL="0">
              <a:buNone/>
            </a:pPr>
            <a:r>
              <a:rPr lang="en-US" sz="1500" dirty="0">
                <a:solidFill>
                  <a:schemeClr val="bg1"/>
                </a:solidFill>
              </a:rPr>
              <a:t>XGBoost picks the product with 85.7% accuracy (ceiling 88.4%) and sizes dose and timing with R² ≥ 0.98</a:t>
            </a:r>
            <a:endParaRPr lang="en-US" sz="1500" dirty="0"/>
          </a:p>
        </p:txBody>
      </p:sp>
      <p:pic>
        <p:nvPicPr>
          <p:cNvPr id="8" name="Finding icon 3" descr="preencoded.png">    </p:cNvPr>
          <p:cNvPicPr>
            <a:picLocks noChangeAspect="1"/>
          </p:cNvPicPr>
          <p:nvPr/>
        </p:nvPicPr>
        <p:blipFill>
          <a:blip r:embed="rId3"/>
          <a:stretch>
            <a:fillRect/>
          </a:stretch>
        </p:blipFill>
        <p:spPr>
          <a:xfrm>
            <a:off x="548640" y="3813048"/>
            <a:ext cx="347472" cy="347472"/>
          </a:xfrm>
          <a:prstGeom prst="rect">
            <a:avLst/>
          </a:prstGeom>
        </p:spPr>
      </p:pic>
      <p:sp>
        <p:nvSpPr>
          <p:cNvPr id="9" name="Finding 3"/>
          <p:cNvSpPr txBox="1"/>
          <p:nvPr/>
        </p:nvSpPr>
        <p:spPr>
          <a:xfrm>
            <a:off x="1051560" y="3739896"/>
            <a:ext cx="5120640" cy="914400"/>
          </a:xfrm>
          <a:prstGeom prst="rect">
            <a:avLst/>
          </a:prstGeom>
          <a:noFill/>
          <a:ln/>
        </p:spPr>
        <p:txBody>
          <a:bodyPr wrap="square" lIns="0" tIns="0" rIns="0" bIns="0" rtlCol="0" anchor="t"/>
          <a:lstStyle/>
          <a:p>
            <a:pPr indent="0" marL="0">
              <a:buNone/>
            </a:pPr>
            <a:r>
              <a:rPr lang="en-US" sz="1500" dirty="0">
                <a:solidFill>
                  <a:schemeClr val="bg1"/>
                </a:solidFill>
              </a:rPr>
              <a:t>Coated-urea timing error falls 82% vs the static rating (22.4 → 4.0 days)</a:t>
            </a:r>
            <a:endParaRPr lang="en-US" sz="1500" dirty="0"/>
          </a:p>
        </p:txBody>
      </p:sp>
      <p:pic>
        <p:nvPicPr>
          <p:cNvPr id="10" name="Finding icon 4" descr="preencoded.png">    </p:cNvPr>
          <p:cNvPicPr>
            <a:picLocks noChangeAspect="1"/>
          </p:cNvPicPr>
          <p:nvPr/>
        </p:nvPicPr>
        <p:blipFill>
          <a:blip r:embed="rId4"/>
          <a:stretch>
            <a:fillRect/>
          </a:stretch>
        </p:blipFill>
        <p:spPr>
          <a:xfrm>
            <a:off x="548640" y="4837176"/>
            <a:ext cx="347472" cy="347472"/>
          </a:xfrm>
          <a:prstGeom prst="rect">
            <a:avLst/>
          </a:prstGeom>
        </p:spPr>
      </p:pic>
      <p:sp>
        <p:nvSpPr>
          <p:cNvPr id="11" name="Finding 4"/>
          <p:cNvSpPr txBox="1"/>
          <p:nvPr/>
        </p:nvSpPr>
        <p:spPr>
          <a:xfrm>
            <a:off x="1051560" y="4764024"/>
            <a:ext cx="5120640" cy="914400"/>
          </a:xfrm>
          <a:prstGeom prst="rect">
            <a:avLst/>
          </a:prstGeom>
          <a:noFill/>
          <a:ln/>
        </p:spPr>
        <p:txBody>
          <a:bodyPr wrap="square" lIns="0" tIns="0" rIns="0" bIns="0" rtlCol="0" anchor="t"/>
          <a:lstStyle/>
          <a:p>
            <a:pPr indent="0" marL="0">
              <a:buNone/>
            </a:pPr>
            <a:r>
              <a:rPr lang="en-US" sz="1500" dirty="0">
                <a:solidFill>
                  <a:schemeClr val="bg1"/>
                </a:solidFill>
              </a:rPr>
              <a:t>Module 1 is what makes the difference: removing it costs 9 points of coat-grade accuracy</a:t>
            </a:r>
            <a:endParaRPr lang="en-US" sz="1500" dirty="0"/>
          </a:p>
        </p:txBody>
      </p:sp>
      <p:sp>
        <p:nvSpPr>
          <p:cNvPr id="12" name="Future card"/>
          <p:cNvSpPr/>
          <p:nvPr/>
        </p:nvSpPr>
        <p:spPr>
          <a:xfrm>
            <a:off x="6492240" y="1280160"/>
            <a:ext cx="5166360" cy="4206240"/>
          </a:xfrm>
          <a:prstGeom prst="roundRect">
            <a:avLst>
              <a:gd name="adj" fmla="val 2609"/>
            </a:avLst>
          </a:prstGeom>
          <a:solidFill>
            <a:schemeClr val="accent1"/>
          </a:solidFill>
          <a:ln/>
        </p:spPr>
      </p:sp>
      <p:sp>
        <p:nvSpPr>
          <p:cNvPr id="13" name="Future text"/>
          <p:cNvSpPr txBox="1"/>
          <p:nvPr/>
        </p:nvSpPr>
        <p:spPr>
          <a:xfrm>
            <a:off x="6766560" y="1463040"/>
            <a:ext cx="4663440" cy="3886200"/>
          </a:xfrm>
          <a:prstGeom prst="rect">
            <a:avLst/>
          </a:prstGeom>
          <a:noFill/>
          <a:ln/>
        </p:spPr>
        <p:txBody>
          <a:bodyPr wrap="square" lIns="0" tIns="0" rIns="0" bIns="0" rtlCol="0" anchor="t"/>
          <a:lstStyle/>
          <a:p>
            <a:pPr indent="0" marL="0">
              <a:spcAft>
                <a:spcPts val="1400"/>
              </a:spcAft>
              <a:buNone/>
            </a:pPr>
            <a:r>
              <a:rPr lang="en-US" sz="2000" b="1" dirty="0">
                <a:solidFill>
                  <a:schemeClr val="bg1"/>
                </a:solidFill>
                <a:latin typeface="Cambria" pitchFamily="34" charset="0"/>
                <a:ea typeface="Cambria" pitchFamily="34" charset="-122"/>
                <a:cs typeface="Cambria" pitchFamily="34" charset="-120"/>
              </a:rPr>
              <a:t>Future scope</a:t>
            </a:r>
            <a:endParaRPr lang="en-US" sz="1600" dirty="0"/>
          </a:p>
          <a:p>
            <a:pPr marL="342900" indent="-342900">
              <a:spcAft>
                <a:spcPts val="1400"/>
              </a:spcAft>
              <a:buSzPct val="100000"/>
              <a:buChar char="•"/>
            </a:pPr>
            <a:r>
              <a:rPr lang="en-US" sz="1600" dirty="0">
                <a:solidFill>
                  <a:schemeClr val="bg1"/>
                </a:solidFill>
              </a:rPr>
              <a:t>Calibrate Module 1 with lysimeter or incubation release measurements</a:t>
            </a:r>
            <a:endParaRPr lang="en-US" sz="1600" dirty="0"/>
          </a:p>
          <a:p>
            <a:pPr marL="342900" indent="-342900">
              <a:spcAft>
                <a:spcPts val="1400"/>
              </a:spcAft>
              <a:buSzPct val="100000"/>
              <a:buChar char="•"/>
            </a:pPr>
            <a:r>
              <a:rPr lang="en-US" sz="1600" dirty="0">
                <a:solidFill>
                  <a:schemeClr val="bg1"/>
                </a:solidFill>
              </a:rPr>
              <a:t>Live weather-forecast API and IoT soil sensors</a:t>
            </a:r>
            <a:endParaRPr lang="en-US" sz="1600" dirty="0"/>
          </a:p>
          <a:p>
            <a:pPr marL="342900" indent="-342900">
              <a:spcAft>
                <a:spcPts val="1400"/>
              </a:spcAft>
              <a:buSzPct val="100000"/>
              <a:buChar char="•"/>
            </a:pPr>
            <a:r>
              <a:rPr lang="en-US" sz="1600" dirty="0">
                <a:solidFill>
                  <a:schemeClr val="bg1"/>
                </a:solidFill>
              </a:rPr>
              <a:t>More products: sulphur-coated urea, coated P &amp; K, inhibitors</a:t>
            </a:r>
            <a:endParaRPr lang="en-US" sz="1600" dirty="0"/>
          </a:p>
          <a:p>
            <a:pPr marL="342900" indent="-342900">
              <a:spcAft>
                <a:spcPts val="1400"/>
              </a:spcAft>
              <a:buSzPct val="100000"/>
              <a:buChar char="•"/>
            </a:pPr>
            <a:r>
              <a:rPr lang="en-US" sz="1600" dirty="0">
                <a:solidFill>
                  <a:schemeClr val="bg1"/>
                </a:solidFill>
              </a:rPr>
              <a:t>Mobile app in regional languages for farmers</a:t>
            </a:r>
            <a:endParaRPr lang="en-US" sz="1600" dirty="0"/>
          </a:p>
          <a:p>
            <a:pPr marL="342900" indent="-342900">
              <a:spcAft>
                <a:spcPts val="1400"/>
              </a:spcAft>
              <a:buSzPct val="100000"/>
              <a:buChar char="•"/>
            </a:pPr>
            <a:r>
              <a:rPr lang="en-US" sz="1600" dirty="0">
                <a:solidFill>
                  <a:schemeClr val="bg1"/>
                </a:solidFill>
              </a:rPr>
              <a:t>Optimise for fertilizer cost and expected yield</a:t>
            </a:r>
            <a:endParaRPr lang="en-US" sz="1600" dirty="0"/>
          </a:p>
        </p:txBody>
      </p:sp>
      <p:sp>
        <p:nvSpPr>
          <p:cNvPr id="14" name="Limitation"/>
          <p:cNvSpPr txBox="1"/>
          <p:nvPr/>
        </p:nvSpPr>
        <p:spPr>
          <a:xfrm>
            <a:off x="548640" y="5806440"/>
            <a:ext cx="11109960" cy="411480"/>
          </a:xfrm>
          <a:prstGeom prst="rect">
            <a:avLst/>
          </a:prstGeom>
          <a:noFill/>
          <a:ln/>
        </p:spPr>
        <p:txBody>
          <a:bodyPr wrap="square" lIns="0" tIns="0" rIns="0" bIns="0" rtlCol="0" anchor="ctr"/>
          <a:lstStyle/>
          <a:p>
            <a:pPr indent="0" marL="0">
              <a:buNone/>
            </a:pPr>
            <a:r>
              <a:rPr lang="en-US" sz="1300" i="1" dirty="0">
                <a:solidFill>
                  <a:schemeClr val="bg2"/>
                </a:solidFill>
              </a:rPr>
              <a:t>Limitation: release behaviour and labels are simulated from published relationships; field validation is the next step.</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292608"/>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References</a:t>
            </a:r>
            <a:endParaRPr lang="en-US" sz="3400" dirty="0"/>
          </a:p>
        </p:txBody>
      </p:sp>
      <p:sp>
        <p:nvSpPr>
          <p:cNvPr id="3" name="References Datasets"/>
          <p:cNvSpPr txBox="1"/>
          <p:nvPr/>
        </p:nvSpPr>
        <p:spPr>
          <a:xfrm>
            <a:off x="548640" y="1234440"/>
            <a:ext cx="5394960" cy="1051560"/>
          </a:xfrm>
          <a:prstGeom prst="rect">
            <a:avLst/>
          </a:prstGeom>
          <a:noFill/>
          <a:ln/>
        </p:spPr>
        <p:txBody>
          <a:bodyPr wrap="square" lIns="0" tIns="0" rIns="0" bIns="0" rtlCol="0" anchor="t"/>
          <a:lstStyle/>
          <a:p>
            <a:pPr indent="0" marL="0">
              <a:spcAft>
                <a:spcPts val="500"/>
              </a:spcAft>
              <a:buNone/>
            </a:pPr>
            <a:r>
              <a:rPr lang="en-US" sz="1100" b="1" spc="100" kern="0" dirty="0">
                <a:solidFill>
                  <a:schemeClr val="accent1"/>
                </a:solidFill>
              </a:rPr>
              <a:t>DATASETS</a:t>
            </a:r>
            <a:endParaRPr lang="en-US" sz="1100" dirty="0"/>
          </a:p>
          <a:p>
            <a:pPr indent="0" marL="0">
              <a:spcAft>
                <a:spcPts val="500"/>
              </a:spcAft>
              <a:buNone/>
            </a:pPr>
            <a:r>
              <a:rPr lang="en-US" sz="1200" dirty="0">
                <a:solidFill>
                  <a:schemeClr val="tx1"/>
                </a:solidFill>
              </a:rPr>
              <a:t>1. A. Ingle, "Crop Recommendation Dataset," Kaggle. kaggle.com/datasets/atharvaingle/crop-recommendation-dataset</a:t>
            </a:r>
            <a:endParaRPr lang="en-US" sz="1100" dirty="0"/>
          </a:p>
          <a:p>
            <a:pPr indent="0" marL="0">
              <a:spcAft>
                <a:spcPts val="500"/>
              </a:spcAft>
              <a:buNone/>
            </a:pPr>
            <a:r>
              <a:rPr lang="en-US" sz="1200" dirty="0">
                <a:solidFill>
                  <a:schemeClr val="tx1"/>
                </a:solidFill>
              </a:rPr>
              <a:t>2. Harvestify: crop-wise N-P-K requirement table. github.com/Gladiator07/Harvestify</a:t>
            </a:r>
            <a:endParaRPr lang="en-US" sz="1100" dirty="0"/>
          </a:p>
        </p:txBody>
      </p:sp>
      <p:sp>
        <p:nvSpPr>
          <p:cNvPr id="4" name="References Research papers"/>
          <p:cNvSpPr txBox="1"/>
          <p:nvPr/>
        </p:nvSpPr>
        <p:spPr>
          <a:xfrm>
            <a:off x="548640" y="2423160"/>
            <a:ext cx="5394960" cy="3886200"/>
          </a:xfrm>
          <a:prstGeom prst="rect">
            <a:avLst/>
          </a:prstGeom>
          <a:noFill/>
          <a:ln/>
        </p:spPr>
        <p:txBody>
          <a:bodyPr wrap="square" lIns="0" tIns="0" rIns="0" bIns="0" rtlCol="0" anchor="t"/>
          <a:lstStyle/>
          <a:p>
            <a:pPr indent="0" marL="0">
              <a:spcAft>
                <a:spcPts val="500"/>
              </a:spcAft>
              <a:buNone/>
            </a:pPr>
            <a:r>
              <a:rPr lang="en-US" sz="1100" b="1" spc="100" kern="0" dirty="0">
                <a:solidFill>
                  <a:schemeClr val="accent1"/>
                </a:solidFill>
              </a:rPr>
              <a:t>RESEARCH PAPERS</a:t>
            </a:r>
            <a:endParaRPr lang="en-US" sz="1100" dirty="0"/>
          </a:p>
          <a:p>
            <a:pPr indent="0" marL="0">
              <a:spcAft>
                <a:spcPts val="500"/>
              </a:spcAft>
              <a:buNone/>
            </a:pPr>
            <a:r>
              <a:rPr lang="en-US" sz="1200" dirty="0">
                <a:solidFill>
                  <a:schemeClr val="tx1"/>
                </a:solidFill>
              </a:rPr>
              <a:t>3. M. J. Brown, R. E. Luebs, P. F. Pratt, "Effect of temperature and coating thickness on the release of urea from resin-coated granules," Agronomy Journal, 58, 175–178, 1966.</a:t>
            </a:r>
            <a:endParaRPr lang="en-US" sz="1100" dirty="0"/>
          </a:p>
          <a:p>
            <a:pPr indent="0" marL="0">
              <a:spcAft>
                <a:spcPts val="500"/>
              </a:spcAft>
              <a:buNone/>
            </a:pPr>
            <a:r>
              <a:rPr lang="en-US" sz="1200" dirty="0">
                <a:solidFill>
                  <a:schemeClr val="tx1"/>
                </a:solidFill>
              </a:rPr>
              <a:t>4. T. S. Tanaka et al., "Can machine learning models provide accurate fertilizer application recommendations?," Precision Agriculture, 25(4), 1839–1856, 2024.</a:t>
            </a:r>
            <a:endParaRPr lang="en-US" sz="1100" dirty="0"/>
          </a:p>
          <a:p>
            <a:pPr indent="0" marL="0">
              <a:spcAft>
                <a:spcPts val="500"/>
              </a:spcAft>
              <a:buNone/>
            </a:pPr>
            <a:r>
              <a:rPr lang="en-US" sz="1200" dirty="0">
                <a:solidFill>
                  <a:schemeClr val="tx1"/>
                </a:solidFill>
              </a:rPr>
              <a:t>5. I. Kassem et al., "Polymer-coated slow/controlled-release granular fertilizers: Fundamentals and research trends," Progress in Materials Science, 144, 2024.</a:t>
            </a:r>
            <a:endParaRPr lang="en-US" sz="1100" dirty="0"/>
          </a:p>
          <a:p>
            <a:pPr indent="0" marL="0">
              <a:spcAft>
                <a:spcPts val="500"/>
              </a:spcAft>
              <a:buNone/>
            </a:pPr>
            <a:r>
              <a:rPr lang="en-US" sz="1200" dirty="0">
                <a:solidFill>
                  <a:schemeClr val="tx1"/>
                </a:solidFill>
              </a:rPr>
              <a:t>6. S. Swain et al., "Proportional impact prediction model of coating material on polymer-coated fertilizers," Scientific Reports, 14, 2024.</a:t>
            </a:r>
            <a:endParaRPr lang="en-US" sz="1100" dirty="0"/>
          </a:p>
          <a:p>
            <a:pPr indent="0" marL="0">
              <a:spcAft>
                <a:spcPts val="500"/>
              </a:spcAft>
              <a:buNone/>
            </a:pPr>
            <a:r>
              <a:rPr lang="en-US" sz="1200" dirty="0">
                <a:solidFill>
                  <a:schemeClr val="tx1"/>
                </a:solidFill>
              </a:rPr>
              <a:t>7. S. Goyil, "Controlled-release fertiliser: Recent developments and future prospects," J. Controlled Release, 366, 233–249, 2024.</a:t>
            </a:r>
            <a:endParaRPr lang="en-US" sz="1100" dirty="0"/>
          </a:p>
        </p:txBody>
      </p:sp>
      <p:sp>
        <p:nvSpPr>
          <p:cNvPr id="5" name="References Research papers (cont.)"/>
          <p:cNvSpPr txBox="1"/>
          <p:nvPr/>
        </p:nvSpPr>
        <p:spPr>
          <a:xfrm>
            <a:off x="6263640" y="1234440"/>
            <a:ext cx="5394960" cy="2377440"/>
          </a:xfrm>
          <a:prstGeom prst="rect">
            <a:avLst/>
          </a:prstGeom>
          <a:noFill/>
          <a:ln/>
        </p:spPr>
        <p:txBody>
          <a:bodyPr wrap="square" lIns="0" tIns="0" rIns="0" bIns="0" rtlCol="0" anchor="t"/>
          <a:lstStyle/>
          <a:p>
            <a:pPr indent="0" marL="0">
              <a:spcAft>
                <a:spcPts val="500"/>
              </a:spcAft>
              <a:buNone/>
            </a:pPr>
            <a:r>
              <a:rPr lang="en-US" sz="1100" b="1" spc="100" kern="0" dirty="0">
                <a:solidFill>
                  <a:schemeClr val="accent1"/>
                </a:solidFill>
              </a:rPr>
              <a:t>RESEARCH PAPERS (CONT.)</a:t>
            </a:r>
            <a:endParaRPr lang="en-US" sz="1100" dirty="0"/>
          </a:p>
          <a:p>
            <a:pPr indent="0" marL="0">
              <a:spcAft>
                <a:spcPts val="500"/>
              </a:spcAft>
              <a:buNone/>
            </a:pPr>
            <a:r>
              <a:rPr lang="en-US" sz="1200" dirty="0">
                <a:solidFill>
                  <a:schemeClr val="tx1"/>
                </a:solidFill>
              </a:rPr>
              <a:t>8. X. Li, "Global trends and current advances in slow/controlled-release fertilizers," Computers and Electronics in Agriculture, 220, 2024.</a:t>
            </a:r>
            <a:endParaRPr lang="en-US" sz="1100" dirty="0"/>
          </a:p>
          <a:p>
            <a:pPr indent="0" marL="0">
              <a:spcAft>
                <a:spcPts val="500"/>
              </a:spcAft>
              <a:buNone/>
            </a:pPr>
            <a:r>
              <a:rPr lang="en-US" sz="1200" dirty="0">
                <a:solidFill>
                  <a:schemeClr val="tx1"/>
                </a:solidFill>
              </a:rPr>
              <a:t>9. M. Padhiary, "Enhancing precision agriculture: A comprehensive review of machine learning and AI in farming operations," Computers and Electronics in Agriculture, 234, 2024.</a:t>
            </a:r>
            <a:endParaRPr lang="en-US" sz="1100" dirty="0"/>
          </a:p>
          <a:p>
            <a:pPr indent="0" marL="0">
              <a:spcAft>
                <a:spcPts val="500"/>
              </a:spcAft>
              <a:buNone/>
            </a:pPr>
            <a:r>
              <a:rPr lang="en-US" sz="1200" dirty="0">
                <a:solidFill>
                  <a:schemeClr val="tx1"/>
                </a:solidFill>
              </a:rPr>
              <a:t>10. T. M. C. Maaz, "A review of research and innovation on novel fertilizers for efficient nutrient management," Nature Food, 6(3), 155–168, 2025.</a:t>
            </a:r>
            <a:endParaRPr lang="en-US" sz="1100" dirty="0"/>
          </a:p>
          <a:p>
            <a:pPr indent="0" marL="0">
              <a:spcAft>
                <a:spcPts val="500"/>
              </a:spcAft>
              <a:buNone/>
            </a:pPr>
            <a:r>
              <a:rPr lang="en-US" sz="1200" dirty="0">
                <a:solidFill>
                  <a:schemeClr val="tx1"/>
                </a:solidFill>
              </a:rPr>
              <a:t>11. A. Ravindran, "Advancements and challenges in controlled-release fertiliser," J. Controlled Release, 380, 2025.</a:t>
            </a:r>
            <a:endParaRPr lang="en-US" sz="1100" dirty="0"/>
          </a:p>
        </p:txBody>
      </p:sp>
      <p:sp>
        <p:nvSpPr>
          <p:cNvPr id="6" name="References Software &amp; documentation"/>
          <p:cNvSpPr txBox="1"/>
          <p:nvPr/>
        </p:nvSpPr>
        <p:spPr>
          <a:xfrm>
            <a:off x="6263640" y="3794760"/>
            <a:ext cx="5394960" cy="2331720"/>
          </a:xfrm>
          <a:prstGeom prst="rect">
            <a:avLst/>
          </a:prstGeom>
          <a:noFill/>
          <a:ln/>
        </p:spPr>
        <p:txBody>
          <a:bodyPr wrap="square" lIns="0" tIns="0" rIns="0" bIns="0" rtlCol="0" anchor="t"/>
          <a:lstStyle/>
          <a:p>
            <a:pPr indent="0" marL="0">
              <a:spcAft>
                <a:spcPts val="500"/>
              </a:spcAft>
              <a:buNone/>
            </a:pPr>
            <a:r>
              <a:rPr lang="en-US" sz="1100" b="1" spc="100" kern="0" dirty="0">
                <a:solidFill>
                  <a:schemeClr val="accent1"/>
                </a:solidFill>
              </a:rPr>
              <a:t>SOFTWARE &amp; DOCUMENTATION</a:t>
            </a:r>
            <a:endParaRPr lang="en-US" sz="1100" dirty="0"/>
          </a:p>
          <a:p>
            <a:pPr indent="0" marL="0">
              <a:spcAft>
                <a:spcPts val="500"/>
              </a:spcAft>
              <a:buNone/>
            </a:pPr>
            <a:r>
              <a:rPr lang="en-US" sz="1200" dirty="0">
                <a:solidFill>
                  <a:schemeClr val="tx1"/>
                </a:solidFill>
              </a:rPr>
              <a:t>12. F. Pedregosa et al., "Scikit-learn: Machine learning in Python," JMLR, 12, 2825–2830, 2011.</a:t>
            </a:r>
            <a:endParaRPr lang="en-US" sz="1100" dirty="0"/>
          </a:p>
          <a:p>
            <a:pPr indent="0" marL="0">
              <a:spcAft>
                <a:spcPts val="500"/>
              </a:spcAft>
              <a:buNone/>
            </a:pPr>
            <a:r>
              <a:rPr lang="en-US" sz="1200" dirty="0">
                <a:solidFill>
                  <a:schemeClr val="tx1"/>
                </a:solidFill>
              </a:rPr>
              <a:t>13. T. Chen, C. Guestrin, "XGBoost: A scalable tree boosting system," Proc. ACM KDD, 2016.</a:t>
            </a:r>
            <a:endParaRPr lang="en-US" sz="1100" dirty="0"/>
          </a:p>
          <a:p>
            <a:pPr indent="0" marL="0">
              <a:spcAft>
                <a:spcPts val="500"/>
              </a:spcAft>
              <a:buNone/>
            </a:pPr>
            <a:r>
              <a:rPr lang="en-US" sz="1200" dirty="0">
                <a:solidFill>
                  <a:schemeClr val="tx1"/>
                </a:solidFill>
              </a:rPr>
              <a:t>14. pandas, NumPy, Matplotlib and joblib documentation.</a:t>
            </a:r>
            <a:endParaRPr lang="en-US" sz="1100" dirty="0"/>
          </a:p>
          <a:p>
            <a:pPr indent="0" marL="0">
              <a:spcAft>
                <a:spcPts val="500"/>
              </a:spcAft>
              <a:buNone/>
            </a:pPr>
            <a:r>
              <a:rPr lang="en-US" sz="1200" dirty="0">
                <a:solidFill>
                  <a:schemeClr val="tx1"/>
                </a:solidFill>
              </a:rPr>
              <a:t>15. Team prototype: github.com/Amit-kr04/Smart-fertilizer-project</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Field Green">
  <a:themeElements>
    <a:clrScheme name="Field Green">
      <a:dk1>
        <a:srgbClr val="1F2A1F"/>
      </a:dk1>
      <a:lt1>
        <a:srgbClr val="FFFFFF"/>
      </a:lt1>
      <a:dk2>
        <a:srgbClr val="1C3A1E"/>
      </a:dk2>
      <a:lt2>
        <a:srgbClr val="F1F5EC"/>
      </a:lt2>
      <a:accent1>
        <a:srgbClr val="2E5E2F"/>
      </a:accent1>
      <a:accent2>
        <a:srgbClr val="97BC62"/>
      </a:accent2>
      <a:accent3>
        <a:srgbClr val="8B5A2B"/>
      </a:accent3>
      <a:accent4>
        <a:srgbClr val="D9A441"/>
      </a:accent4>
      <a:accent5>
        <a:srgbClr val="5F6F5F"/>
      </a:accent5>
      <a:accent6>
        <a:srgbClr val="D6E4C6"/>
      </a:accent6>
      <a:hlink>
        <a:srgbClr val="2E5E2F"/>
      </a:hlink>
      <a:folHlink>
        <a:srgbClr val="5F6F5F"/>
      </a:folHlink>
    </a:clrScheme>
    <a:fontScheme name="Field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Coated-Fertilizer AI System - Final Review</dc:title>
  <dc:subject>PptxGenJS Presentation</dc:subject>
  <dc:creator>Amit Kumar, Mohammad Afaan Sherief, Bhumi Kumari</dc:creator>
  <cp:lastModifiedBy>Amit Kumar, Mohammad Afaan Sherief, Bhumi Kumari</cp:lastModifiedBy>
  <cp:revision>1</cp:revision>
  <dcterms:created xsi:type="dcterms:W3CDTF">2026-10-13T17:02:22Z</dcterms:created>
  <dcterms:modified xsi:type="dcterms:W3CDTF">2026-10-13T17:02:22Z</dcterms:modified>
</cp:coreProperties>
</file>